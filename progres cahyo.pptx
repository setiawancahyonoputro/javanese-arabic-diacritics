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4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4" r:id="rId9"/>
    <p:sldId id="271" r:id="rId10"/>
    <p:sldId id="265" r:id="rId11"/>
    <p:sldId id="267" r:id="rId12"/>
    <p:sldId id="268" r:id="rId13"/>
    <p:sldId id="266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63" r:id="rId25"/>
  </p:sldIdLst>
  <p:sldSz cx="18288000" cy="10287000"/>
  <p:notesSz cx="6858000" cy="9144000"/>
  <p:embeddedFontLst>
    <p:embeddedFont>
      <p:font typeface="Montnapha" panose="020B0604020202020204" charset="-34"/>
      <p:regular r:id="rId27"/>
    </p:embeddedFont>
    <p:embeddedFont>
      <p:font typeface="Montserrat Bold" panose="00000800000000000000" pitchFamily="2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156CA-E375-46A4-AA03-30971EE358EC}">
          <p14:sldIdLst>
            <p14:sldId id="256"/>
            <p14:sldId id="257"/>
            <p14:sldId id="258"/>
            <p14:sldId id="260"/>
            <p14:sldId id="259"/>
            <p14:sldId id="262"/>
          </p14:sldIdLst>
        </p14:section>
        <p14:section name="Untitled Section" id="{BF8104B0-1CDC-4CAD-A593-6D2D8C0D0D44}">
          <p14:sldIdLst>
            <p14:sldId id="261"/>
            <p14:sldId id="264"/>
            <p14:sldId id="271"/>
            <p14:sldId id="265"/>
            <p14:sldId id="267"/>
            <p14:sldId id="268"/>
            <p14:sldId id="266"/>
            <p14:sldId id="269"/>
            <p14:sldId id="27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291" autoAdjust="0"/>
  </p:normalViewPr>
  <p:slideViewPr>
    <p:cSldViewPr>
      <p:cViewPr varScale="1">
        <p:scale>
          <a:sx n="49" d="100"/>
          <a:sy n="49" d="100"/>
        </p:scale>
        <p:origin x="57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09100-B98D-416F-A557-73F735376D2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FBD57-B858-4C41-8498-B4160D44D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3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menambahkan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skrip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modifikasinya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)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perbedaan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punya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alifah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kemudian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perlu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istilah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langsung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contoh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“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pixelnya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bridge).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Kenapa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bisa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?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visual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Gambar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gambar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Jika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garis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gimana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? Kan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garisnya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5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Coba </a:t>
            </a:r>
            <a:r>
              <a:rPr lang="en-US" dirty="0" err="1"/>
              <a:t>dikombinasikan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pembacaan</a:t>
            </a:r>
            <a:r>
              <a:rPr lang="en-US" dirty="0"/>
              <a:t> </a:t>
            </a:r>
            <a:r>
              <a:rPr lang="en-US" dirty="0" err="1"/>
              <a:t>hurufnya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fleksibel</a:t>
            </a:r>
            <a:r>
              <a:rPr lang="en-US" dirty="0"/>
              <a:t>(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darimana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Analisa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bahwa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greedy TSP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membaca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bukan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edges. Jadi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hrus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diperbaiki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supaya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ini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berlaku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 dan tulisan yang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kurang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skeleton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6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F40-65AF-C685-80E4-22A3C8980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78CAC-7309-8A75-7FF8-BA48E027B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7666-6C0C-E8FA-6668-C69EFB44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079D-4B3C-27AB-C70B-A2207D1E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D7912-D0E4-7C08-F075-3709BD66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DF3A-915F-6ABB-42A9-2A1CBEA4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AADA-06C3-3F20-9703-579A08BD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3D30C-F2DB-054C-A309-9018E458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28C9-B024-853D-4CE6-DA06DF7F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22FD-B430-8571-3120-1879E264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F6B1-E224-683F-5B5E-CF7C5A93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0B0D2-B9F6-B79A-4770-BC79A4C78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9334-4E62-C524-08CA-F3F12FAD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047A-8F73-0B4E-51A2-EF1F4CF1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3224-8F35-7BEE-0CBA-96EC6F98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C17E-47C6-2E32-73D6-8FBBEE71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1C3E-3656-6399-5F7D-8E8D73DD0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F2A51-A83A-32D3-AB30-550DE70B5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1B24-4177-A578-5A0B-D607C27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57EA9-F6C4-8C52-66CA-0CBCB5CF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5780-C79D-8DAC-E0D7-6F134E92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3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8A54-B068-4FD1-0528-83B651B3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5808-B26D-DBA9-6EFA-9D0B3B19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33193-7537-4DBE-60F5-F9C8651D2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4CFD7-9EF6-28A9-8174-65BAB83DE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09B2F-5088-7978-1270-521512146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4DAAF-6AF7-BC7F-BF0B-7F33FC01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C41E3-6FD9-3C64-8DDC-F6D69CC8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CBBB3-3140-E5F1-0067-6D2CD2E3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B067-A668-221B-DA24-CD8840A3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8202B-77F4-52EA-2B65-8952F39A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8C9CE-544F-A0B6-2822-4873B694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B4FD0-B929-152F-58C8-BBC5FE8E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C75D4-6D76-4BED-CF60-67AAEDF6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0FC82-264E-8C2F-05F8-D1348001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FB735-D778-2897-45A3-033EEE3F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28A9-12FB-7EB6-A64A-FF3C1522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E282-585A-BBA9-7FB7-894E7DEF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A6ABB-4223-C63B-CAE6-1BA646A6E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FCC39-15F4-13D6-B27C-BC103203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C9992-05E6-D4F2-5844-C84049B0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10579-0394-086B-FE2C-6BE10966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8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0CD5-89CB-434F-3DEE-76ED4FA5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A59F3-B54C-C94A-43E8-5C2ACF4DD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504EE-FA2E-EBF7-EA77-CED94DA8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E03F3-684B-918A-D5A9-CBEB32F9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22821-9263-A347-4700-03A5D1DF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B2E4-998A-421C-0B52-03F252AD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5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F62C-61CA-0E32-E252-5DC1752B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C14BC-3A2A-9141-F1AF-771A0A00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B9A1-7B4E-C05B-F4D0-928E585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FFBD-555D-615C-4BF3-42962BE8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8960-6820-1092-E15B-CC37926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B9488-367A-312B-E945-9A6EA5737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4718B-1D78-E06D-B62B-643EA45FA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0154-AF30-5027-AFF2-27FDA614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E742-47BA-620A-D000-FEB8D5F1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8F8C-6E24-3219-7F15-031D3B2E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3FF5F-AF64-427D-924D-167737B9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AF970-1912-E942-8906-CEB4F4030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B9D5D-ACBD-0C9C-610A-F31EF1C1A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3BD78-6B91-CB8C-6B03-BA6C91D60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AA318-ECF8-32CD-966F-021632E0E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7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image.org/docs/stable/api/skimage.morphology.html#skimage.morphology.skeletoniz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5315717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26379" y="3496381"/>
            <a:ext cx="12035243" cy="165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80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 REPORT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7064" y="5681027"/>
            <a:ext cx="953387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sz="4508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Setiawan Cahyono 202269040066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14642" y="924631"/>
            <a:ext cx="789293" cy="1028700"/>
          </a:xfrm>
          <a:custGeom>
            <a:avLst/>
            <a:gdLst/>
            <a:ahLst/>
            <a:cxnLst/>
            <a:rect l="l" t="t" r="r" b="b"/>
            <a:pathLst>
              <a:path w="789293" h="1028700">
                <a:moveTo>
                  <a:pt x="0" y="0"/>
                </a:moveTo>
                <a:lnTo>
                  <a:pt x="789294" y="0"/>
                </a:lnTo>
                <a:lnTo>
                  <a:pt x="78929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654" y="571500"/>
            <a:ext cx="6496061" cy="8686800"/>
          </a:xfrm>
          <a:custGeom>
            <a:avLst/>
            <a:gdLst/>
            <a:ahLst/>
            <a:cxnLst/>
            <a:rect l="l" t="t" r="r" b="b"/>
            <a:pathLst>
              <a:path w="4759772" h="6356958">
                <a:moveTo>
                  <a:pt x="0" y="0"/>
                </a:moveTo>
                <a:lnTo>
                  <a:pt x="4759773" y="0"/>
                </a:lnTo>
                <a:lnTo>
                  <a:pt x="475977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33715" y="2259891"/>
            <a:ext cx="11301259" cy="3362125"/>
          </a:xfrm>
          <a:custGeom>
            <a:avLst/>
            <a:gdLst/>
            <a:ahLst/>
            <a:cxnLst/>
            <a:rect l="l" t="t" r="r" b="b"/>
            <a:pathLst>
              <a:path w="11301259" h="3362125">
                <a:moveTo>
                  <a:pt x="0" y="0"/>
                </a:moveTo>
                <a:lnTo>
                  <a:pt x="11301259" y="0"/>
                </a:lnTo>
                <a:lnTo>
                  <a:pt x="11301259" y="3362125"/>
                </a:lnTo>
                <a:lnTo>
                  <a:pt x="0" y="336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2731518-489E-EDF6-607A-FE5F0BB91A62}"/>
              </a:ext>
            </a:extLst>
          </p:cNvPr>
          <p:cNvSpPr/>
          <p:nvPr/>
        </p:nvSpPr>
        <p:spPr>
          <a:xfrm>
            <a:off x="7676715" y="5183150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F188D-6A5D-4141-7BAE-8623CB19DEB5}"/>
              </a:ext>
            </a:extLst>
          </p:cNvPr>
          <p:cNvSpPr txBox="1"/>
          <p:nvPr/>
        </p:nvSpPr>
        <p:spPr>
          <a:xfrm>
            <a:off x="6605373" y="718599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163AF9C-1D66-E2D0-BC3D-0B167576FDD9}"/>
              </a:ext>
            </a:extLst>
          </p:cNvPr>
          <p:cNvSpPr/>
          <p:nvPr/>
        </p:nvSpPr>
        <p:spPr>
          <a:xfrm>
            <a:off x="9943230" y="4977389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2D62C-EB5A-3449-83E1-82E85EF32537}"/>
              </a:ext>
            </a:extLst>
          </p:cNvPr>
          <p:cNvSpPr txBox="1"/>
          <p:nvPr/>
        </p:nvSpPr>
        <p:spPr>
          <a:xfrm>
            <a:off x="8286315" y="696696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Belum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terpotong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1D191-F6EC-D539-474D-342C7DD2AFF4}"/>
              </a:ext>
            </a:extLst>
          </p:cNvPr>
          <p:cNvSpPr txBox="1"/>
          <p:nvPr/>
        </p:nvSpPr>
        <p:spPr>
          <a:xfrm>
            <a:off x="11486715" y="7236264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Pertengahan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76D4EDC-3CFF-CD13-116C-062C25B235DC}"/>
              </a:ext>
            </a:extLst>
          </p:cNvPr>
          <p:cNvSpPr/>
          <p:nvPr/>
        </p:nvSpPr>
        <p:spPr>
          <a:xfrm>
            <a:off x="12031944" y="5299703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7AE879BA-005B-873B-F91C-CF6F71E56900}"/>
              </a:ext>
            </a:extLst>
          </p:cNvPr>
          <p:cNvSpPr txBox="1"/>
          <p:nvPr/>
        </p:nvSpPr>
        <p:spPr>
          <a:xfrm>
            <a:off x="4121564" y="89110"/>
            <a:ext cx="13811689" cy="137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72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Saran </a:t>
            </a:r>
            <a:r>
              <a:rPr lang="en-US" sz="72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72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2238155" y="31173"/>
            <a:ext cx="13811689" cy="145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85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CA5EEA-CD2A-450A-BFDD-C16665D8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17747"/>
            <a:ext cx="5683542" cy="7594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6F6F3-6688-D0A7-4C0E-F51EBD24D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506390"/>
            <a:ext cx="10578168" cy="4190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2789058" y="870042"/>
            <a:ext cx="11205693" cy="682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1466" lvl="1" algn="just">
              <a:lnSpc>
                <a:spcPts val="3780"/>
              </a:lnSpc>
            </a:pP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aturan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291466" lvl="1" algn="just">
              <a:lnSpc>
                <a:spcPts val="3780"/>
              </a:lnSpc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penghubung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2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menghasilkan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besar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dilakukan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dititik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dot/</a:t>
            </a:r>
            <a:r>
              <a:rPr lang="en-US" sz="2800" dirty="0" err="1"/>
              <a:t>diakritik</a:t>
            </a:r>
            <a:r>
              <a:rPr lang="en-US" sz="2800" dirty="0"/>
              <a:t> </a:t>
            </a:r>
            <a:r>
              <a:rPr lang="en-US" sz="2800" dirty="0" err="1"/>
              <a:t>terpisah</a:t>
            </a:r>
            <a:r>
              <a:rPr lang="en-US" sz="2800" dirty="0"/>
              <a:t>, </a:t>
            </a:r>
            <a:r>
              <a:rPr lang="en-US" sz="2800" b="1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hitung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</a:t>
            </a:r>
            <a:r>
              <a:rPr lang="en-US" sz="2800" dirty="0" err="1"/>
              <a:t>pemisah</a:t>
            </a:r>
            <a:r>
              <a:rPr lang="en-US" sz="2800" dirty="0"/>
              <a:t> </a:t>
            </a:r>
            <a:r>
              <a:rPr lang="en-US" sz="2800" dirty="0" err="1"/>
              <a:t>anatara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utama</a:t>
            </a:r>
            <a:r>
              <a:rPr lang="en-US" sz="2800" dirty="0"/>
              <a:t>/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dan </a:t>
            </a:r>
            <a:r>
              <a:rPr lang="en-US" sz="2800" b="1" dirty="0" err="1"/>
              <a:t>tempelkan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paling </a:t>
            </a:r>
            <a:r>
              <a:rPr lang="en-US" sz="2800" dirty="0" err="1"/>
              <a:t>kecil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dibuatkan</a:t>
            </a:r>
            <a:r>
              <a:rPr lang="en-US" sz="2800" dirty="0"/>
              <a:t> </a:t>
            </a:r>
            <a:r>
              <a:rPr lang="en-US" sz="2800" b="1" dirty="0"/>
              <a:t>background </a:t>
            </a:r>
            <a:r>
              <a:rPr lang="en-US" sz="2800" b="1" dirty="0" err="1"/>
              <a:t>kosong</a:t>
            </a:r>
            <a:r>
              <a:rPr lang="en-US" sz="2800" b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lalu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mengaktifkan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milik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), </a:t>
            </a:r>
            <a:r>
              <a:rPr lang="en-US" sz="2800" b="1" dirty="0" err="1"/>
              <a:t>maka</a:t>
            </a:r>
            <a:r>
              <a:rPr lang="en-US" sz="2800" dirty="0"/>
              <a:t> proses </a:t>
            </a:r>
            <a:r>
              <a:rPr lang="en-US" sz="2800" dirty="0" err="1"/>
              <a:t>pemotongan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mengambil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dan </a:t>
            </a:r>
            <a:r>
              <a:rPr lang="en-US" sz="2800" dirty="0" err="1"/>
              <a:t>tidak</a:t>
            </a:r>
            <a:r>
              <a:rPr lang="en-US" sz="2800" dirty="0"/>
              <a:t> “</a:t>
            </a:r>
            <a:r>
              <a:rPr lang="en-US" sz="2800" dirty="0" err="1"/>
              <a:t>ketarik</a:t>
            </a:r>
            <a:r>
              <a:rPr lang="en-US" sz="2800" dirty="0"/>
              <a:t>”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lain.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penulisan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kiri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hasil</a:t>
            </a:r>
            <a:r>
              <a:rPr lang="en-US" sz="2800" dirty="0"/>
              <a:t> </a:t>
            </a:r>
            <a:r>
              <a:rPr lang="en-US" sz="2800" dirty="0" err="1"/>
              <a:t>pemotongan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5930" y="4082231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Panjang,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karena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jarak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Panjang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pendek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176EF89-96B7-D06D-8AC4-D35DCE99522D}"/>
              </a:ext>
            </a:extLst>
          </p:cNvPr>
          <p:cNvSpPr txBox="1"/>
          <p:nvPr/>
        </p:nvSpPr>
        <p:spPr>
          <a:xfrm>
            <a:off x="3225487" y="7458677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juga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ganda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E9112C-E342-DEF2-381C-A8E0E38AB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538" y="1337605"/>
            <a:ext cx="12130679" cy="2577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0B9785-FA04-5D8D-4DF8-C21467841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790603"/>
            <a:ext cx="17145000" cy="1391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541F-ED26-681C-41E9-31DBBA65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71500"/>
            <a:ext cx="8610600" cy="7167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Masukan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4C813-CAF3-FFD5-CEFC-543F39227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1298646"/>
            <a:ext cx="13716000" cy="3692454"/>
          </a:xfrm>
        </p:spPr>
        <p:txBody>
          <a:bodyPr>
            <a:normAutofit/>
          </a:bodyPr>
          <a:lstStyle/>
          <a:p>
            <a:pPr marL="742950" indent="-742950" algn="l">
              <a:buAutoNum type="arabicPeriod"/>
            </a:pPr>
            <a:r>
              <a:rPr lang="en-US" dirty="0" err="1"/>
              <a:t>Persimpangan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r>
              <a:rPr lang="en-US" dirty="0"/>
              <a:t>(junction)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algoritmanya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.</a:t>
            </a:r>
          </a:p>
          <a:p>
            <a:pPr marL="742950" indent="-742950" algn="l">
              <a:buAutoNum type="arabi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terhapus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skeleton, kayak </a:t>
            </a:r>
            <a:r>
              <a:rPr lang="en-US" dirty="0" err="1"/>
              <a:t>wawu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(dot/</a:t>
            </a:r>
            <a:r>
              <a:rPr lang="en-US" dirty="0" err="1"/>
              <a:t>diakritik</a:t>
            </a:r>
            <a:r>
              <a:rPr lang="en-US" dirty="0"/>
              <a:t>), </a:t>
            </a:r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morfologinya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thresholdingnya</a:t>
            </a:r>
            <a:r>
              <a:rPr lang="en-US" dirty="0"/>
              <a:t> (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parameternya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7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0E45-19E4-DA53-CB24-A05DFCDA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1">
            <a:extLst>
              <a:ext uri="{FF2B5EF4-FFF2-40B4-BE49-F238E27FC236}">
                <a16:creationId xmlns:a16="http://schemas.microsoft.com/office/drawing/2014/main" id="{5884099C-07DC-E8AA-6459-0E85D22812C8}"/>
              </a:ext>
            </a:extLst>
          </p:cNvPr>
          <p:cNvSpPr txBox="1"/>
          <p:nvPr/>
        </p:nvSpPr>
        <p:spPr>
          <a:xfrm>
            <a:off x="3225487" y="7458677"/>
            <a:ext cx="11416137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725AF-FC95-4B08-02D6-55246A886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04" y="1129240"/>
            <a:ext cx="9496391" cy="2320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D2447-F5EA-3C53-B1D3-2B9B3A9F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487" y="5376519"/>
            <a:ext cx="13111775" cy="264798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3F287EA-CF7B-9A6A-FB68-46FF7ABE4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89623"/>
            <a:ext cx="13716000" cy="56825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0B225-64B7-6F41-768B-9EFB392DA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579" y="3736941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40E5D365-8B6F-F57D-487E-2001C4306EF0}"/>
              </a:ext>
            </a:extLst>
          </p:cNvPr>
          <p:cNvSpPr txBox="1">
            <a:spLocks/>
          </p:cNvSpPr>
          <p:nvPr/>
        </p:nvSpPr>
        <p:spPr>
          <a:xfrm>
            <a:off x="457200" y="48962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r>
              <a:rPr lang="en-US" dirty="0"/>
              <a:t> </a:t>
            </a:r>
            <a:r>
              <a:rPr lang="en-US" dirty="0" err="1"/>
              <a:t>perbaikan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DB6CB-D9BE-D88D-F069-246453D6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603712"/>
            <a:ext cx="12357149" cy="24955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541A96-1FB4-177C-48E5-5C77FC4B5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30099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9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629C-97AF-7456-3523-99028F3F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C687-0F10-68ED-5751-CD124709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di threshold </a:t>
            </a:r>
          </a:p>
          <a:p>
            <a:r>
              <a:rPr lang="en-US" dirty="0" err="1"/>
              <a:t>Pendeteksian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(hole)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wawu</a:t>
            </a:r>
            <a:endParaRPr lang="en-US" dirty="0"/>
          </a:p>
          <a:p>
            <a:r>
              <a:rPr lang="en-US" dirty="0" err="1"/>
              <a:t>Memakai</a:t>
            </a:r>
            <a:r>
              <a:rPr lang="en-US" dirty="0"/>
              <a:t> adaptive threshold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terputus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morfologi</a:t>
            </a:r>
            <a:r>
              <a:rPr lang="en-US" dirty="0"/>
              <a:t> ellipse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33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2A89-6E60-8DB4-131D-01E71BCA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skeleton </a:t>
            </a:r>
            <a:r>
              <a:rPr lang="en-US" dirty="0" err="1"/>
              <a:t>medialaxis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C97B3-020B-CAD6-4FA0-30C1DC13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4584683"/>
            <a:ext cx="11500332" cy="23225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8D11F2-DB1A-362F-4DBB-CEC50709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28575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5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4D845-3555-C5E8-AFDE-228B39EA1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28700"/>
            <a:ext cx="12357149" cy="249558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CD95C7A-3D0E-0F84-9099-9A5344B5D881}"/>
              </a:ext>
            </a:extLst>
          </p:cNvPr>
          <p:cNvSpPr txBox="1">
            <a:spLocks/>
          </p:cNvSpPr>
          <p:nvPr/>
        </p:nvSpPr>
        <p:spPr>
          <a:xfrm>
            <a:off x="533400" y="3412424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skimage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3DC98E-A028-E31B-E9B6-8DC6E1E8ECA5}"/>
              </a:ext>
            </a:extLst>
          </p:cNvPr>
          <p:cNvSpPr txBox="1">
            <a:spLocks/>
          </p:cNvSpPr>
          <p:nvPr/>
        </p:nvSpPr>
        <p:spPr>
          <a:xfrm>
            <a:off x="2857500" y="897417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DE71C0-6E6D-A5DC-176C-F8F6D12C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9" y="3437762"/>
            <a:ext cx="12357149" cy="2495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4FF9D2-D38A-035F-9BED-378CF3035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65" y="5988098"/>
            <a:ext cx="11657615" cy="2354307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285ACD53-84CB-9443-EAC4-7740A28ED722}"/>
              </a:ext>
            </a:extLst>
          </p:cNvPr>
          <p:cNvSpPr txBox="1">
            <a:spLocks/>
          </p:cNvSpPr>
          <p:nvPr/>
        </p:nvSpPr>
        <p:spPr>
          <a:xfrm>
            <a:off x="552450" y="460446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Simple ITK</a:t>
            </a:r>
          </a:p>
        </p:txBody>
      </p:sp>
    </p:spTree>
    <p:extLst>
      <p:ext uri="{BB962C8B-B14F-4D97-AF65-F5344CB8AC3E}">
        <p14:creationId xmlns:p14="http://schemas.microsoft.com/office/powerpoint/2010/main" val="266638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FA5B-7197-90B6-1889-A192CBE0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9639300" cy="633412"/>
          </a:xfrm>
        </p:spPr>
        <p:txBody>
          <a:bodyPr>
            <a:noAutofit/>
          </a:bodyPr>
          <a:lstStyle/>
          <a:p>
            <a:r>
              <a:rPr lang="en-US" sz="4400" dirty="0" err="1"/>
              <a:t>Pemotongan</a:t>
            </a:r>
            <a:r>
              <a:rPr lang="en-US" sz="4400" dirty="0"/>
              <a:t> </a:t>
            </a:r>
            <a:r>
              <a:rPr lang="en-US" sz="4400" dirty="0" err="1"/>
              <a:t>persimpangan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83FE1-B190-EB7C-86AA-1514D51E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21" y="1485901"/>
            <a:ext cx="13762779" cy="2924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28385-5754-E7AA-7904-AABF6388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358933"/>
            <a:ext cx="17030700" cy="1445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BDC6A-FF01-1B10-8FC5-E80CFDDF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286500"/>
            <a:ext cx="3784566" cy="1445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25204B-EECE-CF48-3569-AD54DCE88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825329"/>
            <a:ext cx="4724400" cy="199963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D0AB95B-09D5-9856-138B-08F0B7920954}"/>
              </a:ext>
            </a:extLst>
          </p:cNvPr>
          <p:cNvSpPr/>
          <p:nvPr/>
        </p:nvSpPr>
        <p:spPr>
          <a:xfrm>
            <a:off x="4876800" y="7009394"/>
            <a:ext cx="18288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286B12-9747-B93C-C885-BA07A092E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01" y="8260271"/>
            <a:ext cx="1426598" cy="1661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2B94ED-FA63-DC02-6FAD-8B32CE12B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330" y="8214067"/>
            <a:ext cx="1438305" cy="162591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36B132D1-528F-5961-25D1-CBC2021BCCB0}"/>
              </a:ext>
            </a:extLst>
          </p:cNvPr>
          <p:cNvSpPr/>
          <p:nvPr/>
        </p:nvSpPr>
        <p:spPr>
          <a:xfrm>
            <a:off x="3733800" y="8801100"/>
            <a:ext cx="45720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7AEB040-5CD4-7009-E7AB-D8F718077352}"/>
              </a:ext>
            </a:extLst>
          </p:cNvPr>
          <p:cNvSpPr txBox="1">
            <a:spLocks/>
          </p:cNvSpPr>
          <p:nvPr/>
        </p:nvSpPr>
        <p:spPr>
          <a:xfrm>
            <a:off x="4622766" y="8298403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Belum </a:t>
            </a:r>
            <a:r>
              <a:rPr lang="en-US" sz="3200" dirty="0" err="1"/>
              <a:t>terpotong</a:t>
            </a:r>
            <a:endParaRPr lang="en-US" sz="320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EE5C756-7C2F-E3C5-4EDB-59FAD8714351}"/>
              </a:ext>
            </a:extLst>
          </p:cNvPr>
          <p:cNvSpPr txBox="1">
            <a:spLocks/>
          </p:cNvSpPr>
          <p:nvPr/>
        </p:nvSpPr>
        <p:spPr>
          <a:xfrm>
            <a:off x="4643843" y="6409631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terpotong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468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646A-6300-9AE0-808E-DBF52588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88FC-0D22-66A4-2777-6127D055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/>
              <a:t>Pemotongan</a:t>
            </a:r>
            <a:r>
              <a:rPr lang="en-US" sz="5400" dirty="0"/>
              <a:t> junction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BB0C04-E3B2-AD88-363F-510DC7B6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215" y="2324100"/>
            <a:ext cx="12527569" cy="2682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A084E-2CD7-F3E6-2B48-0397762FE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81600"/>
            <a:ext cx="17373600" cy="1453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8A5D5B-D7C1-0B09-208E-CCC1C2A4F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25" y="7642584"/>
            <a:ext cx="2679150" cy="209672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D64C929-4EF8-B641-1D91-94EE3DD567C2}"/>
              </a:ext>
            </a:extLst>
          </p:cNvPr>
          <p:cNvSpPr/>
          <p:nvPr/>
        </p:nvSpPr>
        <p:spPr>
          <a:xfrm>
            <a:off x="8915400" y="6783427"/>
            <a:ext cx="228600" cy="869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87E52D-E77C-5CAE-FBED-D57D25BACF7B}"/>
              </a:ext>
            </a:extLst>
          </p:cNvPr>
          <p:cNvSpPr txBox="1">
            <a:spLocks/>
          </p:cNvSpPr>
          <p:nvPr/>
        </p:nvSpPr>
        <p:spPr>
          <a:xfrm>
            <a:off x="468904" y="7141386"/>
            <a:ext cx="7760695" cy="869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Rules : Logika </a:t>
            </a:r>
            <a:r>
              <a:rPr lang="en-US" sz="5400" dirty="0" err="1"/>
              <a:t>pemotongan</a:t>
            </a:r>
            <a:r>
              <a:rPr lang="en-US" sz="5400" dirty="0"/>
              <a:t> </a:t>
            </a:r>
            <a:r>
              <a:rPr lang="en-US" sz="5400" dirty="0" err="1"/>
              <a:t>antara</a:t>
            </a:r>
            <a:r>
              <a:rPr lang="en-US" sz="5400" dirty="0"/>
              <a:t> 2 </a:t>
            </a:r>
            <a:r>
              <a:rPr lang="en-US" sz="5400" dirty="0" err="1"/>
              <a:t>baru</a:t>
            </a:r>
            <a:r>
              <a:rPr lang="en-US" sz="5400" dirty="0"/>
              <a:t> </a:t>
            </a:r>
            <a:r>
              <a:rPr lang="en-US" sz="5400" dirty="0" err="1"/>
              <a:t>bagian</a:t>
            </a:r>
            <a:r>
              <a:rPr lang="en-US" sz="5400" dirty="0"/>
              <a:t> Tengah </a:t>
            </a:r>
            <a:r>
              <a:rPr lang="en-US" sz="5400" dirty="0" err="1"/>
              <a:t>ada</a:t>
            </a:r>
            <a:r>
              <a:rPr lang="en-US" sz="5400" dirty="0"/>
              <a:t> </a:t>
            </a:r>
            <a:r>
              <a:rPr lang="en-US" sz="5400" dirty="0" err="1"/>
              <a:t>leher</a:t>
            </a:r>
            <a:r>
              <a:rPr lang="en-US" sz="5400" dirty="0"/>
              <a:t> </a:t>
            </a:r>
            <a:r>
              <a:rPr lang="en-US" sz="5400" dirty="0" err="1"/>
              <a:t>maka</a:t>
            </a:r>
            <a:r>
              <a:rPr lang="en-US" sz="5400" dirty="0"/>
              <a:t> </a:t>
            </a:r>
            <a:r>
              <a:rPr lang="en-US" sz="5400" dirty="0" err="1"/>
              <a:t>akan</a:t>
            </a:r>
            <a:r>
              <a:rPr lang="en-US" sz="5400" dirty="0"/>
              <a:t> </a:t>
            </a:r>
            <a:r>
              <a:rPr lang="en-US" sz="5400" dirty="0" err="1"/>
              <a:t>memotong</a:t>
            </a:r>
            <a:r>
              <a:rPr lang="en-US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08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AFC-DB09-BCFA-C8C1-AD9B5676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07823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junction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D0FA9-C764-BFFB-5D47-CE3ED5FD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26" y="1462325"/>
            <a:ext cx="11460148" cy="2454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024CF-ED69-320D-0E26-D080E325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6640"/>
            <a:ext cx="18288000" cy="1248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C7E4B-0251-B59D-6D0F-810A29D6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24500"/>
            <a:ext cx="1619306" cy="1754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D69D23-9888-5C57-1288-5A9162664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576227"/>
            <a:ext cx="2321443" cy="15894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4D21A0-4878-9A25-70BB-32B1843FB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4682" y="5524500"/>
            <a:ext cx="1607038" cy="1708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D36AFE-D830-F44F-8DC4-CC541337E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910" y="5483550"/>
            <a:ext cx="1438327" cy="20652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519AFA-E78E-2EDC-C2FE-85371E8B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380" y="5478788"/>
            <a:ext cx="1754247" cy="17542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E29B2A-25B5-1C62-5B2E-425DDCC40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4310" y="5526967"/>
            <a:ext cx="4031396" cy="1754247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31CBA0E-3073-A973-2683-644FD968B4CC}"/>
              </a:ext>
            </a:extLst>
          </p:cNvPr>
          <p:cNvGraphicFramePr>
            <a:graphicFrameLocks noGrp="1"/>
          </p:cNvGraphicFramePr>
          <p:nvPr/>
        </p:nvGraphicFramePr>
        <p:xfrm>
          <a:off x="6011694" y="5330757"/>
          <a:ext cx="6186791" cy="1964988"/>
        </p:xfrm>
        <a:graphic>
          <a:graphicData uri="http://schemas.openxmlformats.org/drawingml/2006/table">
            <a:tbl>
              <a:tblPr/>
              <a:tblGrid>
                <a:gridCol w="6186791">
                  <a:extLst>
                    <a:ext uri="{9D8B030D-6E8A-4147-A177-3AD203B41FA5}">
                      <a16:colId xmlns:a16="http://schemas.microsoft.com/office/drawing/2014/main" val="3286383826"/>
                    </a:ext>
                  </a:extLst>
                </a:gridCol>
              </a:tblGrid>
              <a:tr h="19649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6544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6EDA13D-50F2-1247-9E93-0E2E3C4A9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34247"/>
              </p:ext>
            </p:extLst>
          </p:nvPr>
        </p:nvGraphicFramePr>
        <p:xfrm>
          <a:off x="525294" y="5428034"/>
          <a:ext cx="5077838" cy="2003898"/>
        </p:xfrm>
        <a:graphic>
          <a:graphicData uri="http://schemas.openxmlformats.org/drawingml/2006/table">
            <a:tbl>
              <a:tblPr/>
              <a:tblGrid>
                <a:gridCol w="5077838">
                  <a:extLst>
                    <a:ext uri="{9D8B030D-6E8A-4147-A177-3AD203B41FA5}">
                      <a16:colId xmlns:a16="http://schemas.microsoft.com/office/drawing/2014/main" val="613947213"/>
                    </a:ext>
                  </a:extLst>
                </a:gridCol>
              </a:tblGrid>
              <a:tr h="20038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77083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C19887E-991D-F96A-5CBB-A83DEF07B6FF}"/>
              </a:ext>
            </a:extLst>
          </p:cNvPr>
          <p:cNvGraphicFramePr>
            <a:graphicFrameLocks noGrp="1"/>
          </p:cNvGraphicFramePr>
          <p:nvPr/>
        </p:nvGraphicFramePr>
        <p:xfrm>
          <a:off x="14027285" y="5369668"/>
          <a:ext cx="3677055" cy="2393004"/>
        </p:xfrm>
        <a:graphic>
          <a:graphicData uri="http://schemas.openxmlformats.org/drawingml/2006/table">
            <a:tbl>
              <a:tblPr/>
              <a:tblGrid>
                <a:gridCol w="3677055">
                  <a:extLst>
                    <a:ext uri="{9D8B030D-6E8A-4147-A177-3AD203B41FA5}">
                      <a16:colId xmlns:a16="http://schemas.microsoft.com/office/drawing/2014/main" val="28068326"/>
                    </a:ext>
                  </a:extLst>
                </a:gridCol>
              </a:tblGrid>
              <a:tr h="2393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120429"/>
                  </a:ext>
                </a:extLst>
              </a:tr>
            </a:tbl>
          </a:graphicData>
        </a:graphic>
      </p:graphicFrame>
      <p:sp>
        <p:nvSpPr>
          <p:cNvPr id="30" name="Title 1">
            <a:extLst>
              <a:ext uri="{FF2B5EF4-FFF2-40B4-BE49-F238E27FC236}">
                <a16:creationId xmlns:a16="http://schemas.microsoft.com/office/drawing/2014/main" id="{6185239C-30E3-4D9B-E0DD-9F425F4961DE}"/>
              </a:ext>
            </a:extLst>
          </p:cNvPr>
          <p:cNvSpPr txBox="1">
            <a:spLocks/>
          </p:cNvSpPr>
          <p:nvPr/>
        </p:nvSpPr>
        <p:spPr>
          <a:xfrm>
            <a:off x="525294" y="7739036"/>
            <a:ext cx="2675106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E7FFE2B-17C3-62E2-CEDF-AC934DC6581F}"/>
              </a:ext>
            </a:extLst>
          </p:cNvPr>
          <p:cNvSpPr txBox="1">
            <a:spLocks/>
          </p:cNvSpPr>
          <p:nvPr/>
        </p:nvSpPr>
        <p:spPr>
          <a:xfrm>
            <a:off x="6032771" y="7692702"/>
            <a:ext cx="5591782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 </a:t>
            </a:r>
            <a:r>
              <a:rPr lang="en-US" dirty="0" err="1"/>
              <a:t>wawu</a:t>
            </a:r>
            <a:r>
              <a:rPr lang="en-US" dirty="0"/>
              <a:t> juga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BE34E6D-6942-0932-52B4-81C6E12CE4F1}"/>
              </a:ext>
            </a:extLst>
          </p:cNvPr>
          <p:cNvSpPr txBox="1">
            <a:spLocks/>
          </p:cNvSpPr>
          <p:nvPr/>
        </p:nvSpPr>
        <p:spPr>
          <a:xfrm>
            <a:off x="13563600" y="7902656"/>
            <a:ext cx="4008120" cy="1965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AutoNum type="arabicPeriod"/>
            </a:pPr>
            <a:r>
              <a:rPr lang="en-US" dirty="0"/>
              <a:t>Belum </a:t>
            </a:r>
            <a:r>
              <a:rPr lang="en-US" dirty="0" err="1"/>
              <a:t>terpotong</a:t>
            </a:r>
            <a:endParaRPr lang="en-US" dirty="0"/>
          </a:p>
          <a:p>
            <a:pPr marL="1143000" indent="-1143000">
              <a:buAutoNum type="arabicPeriod"/>
            </a:pPr>
            <a:r>
              <a:rPr lang="en-US" dirty="0" err="1"/>
              <a:t>Huruf</a:t>
            </a:r>
            <a:r>
              <a:rPr lang="en-US" dirty="0"/>
              <a:t> alif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di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5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409F-255E-9069-99F1-C6DB2AE5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7730-864F-D665-BFED-F58BCE88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tiang</a:t>
            </a:r>
            <a:r>
              <a:rPr lang="en-US" dirty="0"/>
              <a:t> Panjang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perputaran</a:t>
            </a:r>
            <a:r>
              <a:rPr lang="en-US" dirty="0"/>
              <a:t> (looping), 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putus</a:t>
            </a:r>
            <a:r>
              <a:rPr lang="en-US" dirty="0"/>
              <a:t> di </a:t>
            </a:r>
            <a:r>
              <a:rPr lang="en-US" dirty="0" err="1"/>
              <a:t>dekat</a:t>
            </a:r>
            <a:r>
              <a:rPr lang="en-US" dirty="0"/>
              <a:t> looping</a:t>
            </a:r>
          </a:p>
          <a:p>
            <a:pPr marL="742950" indent="-742950">
              <a:buAutoNum type="arabicPeriod"/>
            </a:pPr>
            <a:r>
              <a:rPr lang="en-US" dirty="0" err="1"/>
              <a:t>Potong</a:t>
            </a:r>
            <a:r>
              <a:rPr lang="en-US" dirty="0"/>
              <a:t> Ketika </a:t>
            </a:r>
            <a:r>
              <a:rPr lang="en-US" dirty="0" err="1"/>
              <a:t>memiliki</a:t>
            </a:r>
            <a:r>
              <a:rPr lang="en-US" dirty="0"/>
              <a:t> 3 </a:t>
            </a:r>
            <a:r>
              <a:rPr lang="en-US" dirty="0" err="1"/>
              <a:t>jalur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6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FAF6-96B3-3555-B872-7D89F5C0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6097-FC56-EC0A-AEDA-09DED757E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1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32AE-C009-9978-2710-5123683C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39F3-84AE-9D37-BDA4-81CD28225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B3E8-A468-87F6-5B8F-BA007B9E9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9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5F00-BCA4-9BF1-885F-7536429D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B5DA-ACBC-4DA4-A83E-714AD7F9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6D6E2-E3CA-3C4B-31B1-17B243CF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21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FEF1-5AB2-DF77-A762-EE77CFDF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3C29-85F2-E33E-0913-B6B6D29B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172F-E926-6BB3-BB93-82D5724B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16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22F3-A286-FBEA-99BC-EB2C3F1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EF03-8E94-3EC4-5332-08CACF05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53F0-DE8C-ABBE-CB72-3EC0DAFA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50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5062-E650-0E30-FDF3-B18683F9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9BB2-1375-C65E-6172-9FACBE2B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A6ED-D5D8-197D-3B50-5F136E9A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8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1290-C968-E11F-AF21-99DC06C0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294-0E4F-5687-3373-99298E77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762D1-670F-DE8F-1BDD-D42420AB6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00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4F62E-3581-E18A-3D64-962320B9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C9B-5AD0-F290-D829-39FE0E2A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EA84-B166-8367-E669-4A25F2974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09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8275-D056-ECDA-0A12-EE924BF2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42900"/>
            <a:ext cx="15773400" cy="6527007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Coba 3 </a:t>
            </a:r>
            <a:r>
              <a:rPr lang="en-US" dirty="0" err="1"/>
              <a:t>algoritma</a:t>
            </a:r>
            <a:r>
              <a:rPr lang="en-US" dirty="0"/>
              <a:t> skeleton</a:t>
            </a:r>
          </a:p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enhancement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clahe</a:t>
            </a:r>
            <a:r>
              <a:rPr lang="en-US" dirty="0"/>
              <a:t>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kayak library </a:t>
            </a:r>
            <a:r>
              <a:rPr lang="en-US" dirty="0" err="1"/>
              <a:t>skimage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pemanggilan</a:t>
            </a:r>
            <a:r>
              <a:rPr lang="en-US" dirty="0"/>
              <a:t> skeleton “skeletonize” di </a:t>
            </a:r>
            <a:r>
              <a:rPr lang="en-US" dirty="0" err="1"/>
              <a:t>cari</a:t>
            </a:r>
            <a:r>
              <a:rPr lang="en-US" dirty="0"/>
              <a:t> library di google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skimage</a:t>
            </a:r>
            <a:r>
              <a:rPr lang="en-US" dirty="0"/>
              <a:t>, </a:t>
            </a:r>
            <a:r>
              <a:rPr lang="en-US" dirty="0" err="1"/>
              <a:t>zhang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lee (</a:t>
            </a:r>
            <a:r>
              <a:rPr lang="en-US" dirty="0">
                <a:hlinkClick r:id="rId3"/>
              </a:rPr>
              <a:t>https://scikit-image.org/docs/stable/api/skimage.morphology.html#skimage.morphology.skeletonize</a:t>
            </a:r>
            <a:r>
              <a:rPr lang="en-US" dirty="0"/>
              <a:t> ) dan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(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pada </a:t>
            </a:r>
            <a:r>
              <a:rPr lang="en-US" dirty="0" err="1"/>
              <a:t>screenshoot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Ketika </a:t>
            </a:r>
            <a:r>
              <a:rPr lang="en-US" dirty="0" err="1"/>
              <a:t>mencari</a:t>
            </a:r>
            <a:r>
              <a:rPr lang="en-US" dirty="0"/>
              <a:t> library dan </a:t>
            </a:r>
            <a:r>
              <a:rPr lang="en-US" dirty="0" err="1"/>
              <a:t>pemanggilan</a:t>
            </a:r>
            <a:r>
              <a:rPr lang="en-US" dirty="0"/>
              <a:t> </a:t>
            </a:r>
            <a:r>
              <a:rPr lang="en-US" dirty="0" err="1"/>
              <a:t>websitenya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).</a:t>
            </a:r>
          </a:p>
          <a:p>
            <a:r>
              <a:rPr lang="en-US" dirty="0"/>
              <a:t>Ketika </a:t>
            </a:r>
            <a:r>
              <a:rPr lang="en-US" dirty="0" err="1"/>
              <a:t>mengerjakan</a:t>
            </a:r>
            <a:r>
              <a:rPr lang="en-US" dirty="0"/>
              <a:t> juga </a:t>
            </a:r>
            <a:r>
              <a:rPr lang="en-US" dirty="0" err="1"/>
              <a:t>pararel</a:t>
            </a:r>
            <a:r>
              <a:rPr lang="en-US" dirty="0"/>
              <a:t> Ketika skeleton ga </a:t>
            </a:r>
            <a:r>
              <a:rPr lang="en-US" dirty="0" err="1"/>
              <a:t>nemu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ngerjakan</a:t>
            </a:r>
            <a:r>
              <a:rPr lang="en-US" dirty="0"/>
              <a:t> junction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n in range(</a:t>
            </a:r>
            <a:r>
              <a:rPr lang="en-US" dirty="0" err="1"/>
              <a:t>len</a:t>
            </a:r>
            <a:r>
              <a:rPr lang="en-US" dirty="0"/>
              <a:t>(components)):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k_sk</a:t>
            </a:r>
            <a:r>
              <a:rPr lang="en-US" dirty="0"/>
              <a:t> = </a:t>
            </a:r>
            <a:r>
              <a:rPr lang="en-US" dirty="0" err="1"/>
              <a:t>cv.getStructuringElement</a:t>
            </a:r>
            <a:r>
              <a:rPr lang="en-US" dirty="0"/>
              <a:t>(</a:t>
            </a:r>
            <a:r>
              <a:rPr lang="en-US" dirty="0" err="1"/>
              <a:t>cv.MORPH_ELLIPSE</a:t>
            </a:r>
            <a:r>
              <a:rPr lang="en-US" dirty="0"/>
              <a:t>, (3, 3))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 = ((components[n].mat == RASMVAL).</a:t>
            </a:r>
            <a:r>
              <a:rPr lang="en-US" dirty="0" err="1"/>
              <a:t>astype</a:t>
            </a:r>
            <a:r>
              <a:rPr lang="en-US" dirty="0"/>
              <a:t>(np.uint8) * 255)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holes = </a:t>
            </a:r>
            <a:r>
              <a:rPr lang="en-US" dirty="0" err="1"/>
              <a:t>get_holes_mask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)  # </a:t>
            </a:r>
            <a:r>
              <a:rPr lang="en-US" dirty="0" err="1"/>
              <a:t>simpan</a:t>
            </a:r>
            <a:r>
              <a:rPr lang="en-US" dirty="0"/>
              <a:t> hole per </a:t>
            </a:r>
            <a:r>
              <a:rPr lang="en-US" dirty="0" err="1"/>
              <a:t>komponen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#binary_mat = </a:t>
            </a:r>
            <a:r>
              <a:rPr lang="en-US" dirty="0" err="1"/>
              <a:t>cv.morphologyEx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, </a:t>
            </a:r>
            <a:r>
              <a:rPr lang="en-US" dirty="0" err="1"/>
              <a:t>cv.MORPH_CLOSE</a:t>
            </a:r>
            <a:r>
              <a:rPr lang="en-US" dirty="0"/>
              <a:t>, </a:t>
            </a:r>
            <a:r>
              <a:rPr lang="en-US" dirty="0" err="1"/>
              <a:t>k_sk</a:t>
            </a:r>
            <a:r>
              <a:rPr lang="en-US" dirty="0"/>
              <a:t>, iterations=1)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[holes == 255] = 0        # </a:t>
            </a:r>
            <a:r>
              <a:rPr lang="en-US" dirty="0" err="1"/>
              <a:t>balikin</a:t>
            </a:r>
            <a:r>
              <a:rPr lang="en-US" dirty="0"/>
              <a:t> hole </a:t>
            </a:r>
            <a:r>
              <a:rPr lang="en-US" dirty="0" err="1"/>
              <a:t>lagi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skeleton = skeletonize(</a:t>
            </a:r>
            <a:r>
              <a:rPr lang="en-US" dirty="0" err="1"/>
              <a:t>binary_mat</a:t>
            </a:r>
            <a:r>
              <a:rPr lang="en-US" dirty="0"/>
              <a:t> &gt; 0).</a:t>
            </a:r>
            <a:r>
              <a:rPr lang="en-US" dirty="0" err="1"/>
              <a:t>astype</a:t>
            </a:r>
            <a:r>
              <a:rPr lang="en-US" dirty="0"/>
              <a:t>(np.uint8)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skeleton_components.append</a:t>
            </a:r>
            <a:r>
              <a:rPr lang="en-US" dirty="0"/>
              <a:t>(skeleton)</a:t>
            </a:r>
          </a:p>
          <a:p>
            <a:pPr marL="0" indent="0">
              <a:buNone/>
            </a:pPr>
            <a:r>
              <a:rPr lang="en-US" dirty="0"/>
              <a:t>UNTUK SKRIPT INI YANG DIUBAH UBAH TERKAIT SKELETONYA. DARI PAK LUKMAN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4F6F4-B762-E72B-CE13-CEADB6FF0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781300"/>
            <a:ext cx="10827267" cy="56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7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</TotalTime>
  <Words>688</Words>
  <Application>Microsoft Office PowerPoint</Application>
  <PresentationFormat>Custom</PresentationFormat>
  <Paragraphs>66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Montnapha</vt:lpstr>
      <vt:lpstr>Calibri Light</vt:lpstr>
      <vt:lpstr>Montserrat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Masukan</vt:lpstr>
      <vt:lpstr>PowerPoint Presentation</vt:lpstr>
      <vt:lpstr>PowerPoint Presentation</vt:lpstr>
      <vt:lpstr>Perubahan </vt:lpstr>
      <vt:lpstr>skeleton medialaxis</vt:lpstr>
      <vt:lpstr>PowerPoint Presentation</vt:lpstr>
      <vt:lpstr>Pemotongan persimpangan</vt:lpstr>
      <vt:lpstr>Pemotongan junction</vt:lpstr>
      <vt:lpstr>junction</vt:lpstr>
      <vt:lpstr>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</cp:lastModifiedBy>
  <cp:revision>36</cp:revision>
  <dcterms:created xsi:type="dcterms:W3CDTF">2006-08-16T00:00:00Z</dcterms:created>
  <dcterms:modified xsi:type="dcterms:W3CDTF">2026-01-28T05:34:18Z</dcterms:modified>
  <dc:identifier>DAG9OBkQrg4</dc:identifier>
</cp:coreProperties>
</file>