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4" r:id="rId1"/>
  </p:sldMasterIdLst>
  <p:notesMasterIdLst>
    <p:notesMasterId r:id="rId58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4" r:id="rId9"/>
    <p:sldId id="271" r:id="rId10"/>
    <p:sldId id="265" r:id="rId11"/>
    <p:sldId id="267" r:id="rId12"/>
    <p:sldId id="268" r:id="rId13"/>
    <p:sldId id="266" r:id="rId14"/>
    <p:sldId id="269" r:id="rId15"/>
    <p:sldId id="270" r:id="rId16"/>
    <p:sldId id="272" r:id="rId17"/>
    <p:sldId id="273" r:id="rId18"/>
    <p:sldId id="280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99" r:id="rId27"/>
    <p:sldId id="300" r:id="rId28"/>
    <p:sldId id="282" r:id="rId29"/>
    <p:sldId id="298" r:id="rId30"/>
    <p:sldId id="301" r:id="rId31"/>
    <p:sldId id="302" r:id="rId32"/>
    <p:sldId id="283" r:id="rId33"/>
    <p:sldId id="284" r:id="rId34"/>
    <p:sldId id="304" r:id="rId35"/>
    <p:sldId id="285" r:id="rId36"/>
    <p:sldId id="286" r:id="rId37"/>
    <p:sldId id="303" r:id="rId38"/>
    <p:sldId id="287" r:id="rId39"/>
    <p:sldId id="288" r:id="rId40"/>
    <p:sldId id="289" r:id="rId41"/>
    <p:sldId id="290" r:id="rId42"/>
    <p:sldId id="291" r:id="rId43"/>
    <p:sldId id="292" r:id="rId44"/>
    <p:sldId id="307" r:id="rId45"/>
    <p:sldId id="305" r:id="rId46"/>
    <p:sldId id="306" r:id="rId47"/>
    <p:sldId id="308" r:id="rId48"/>
    <p:sldId id="309" r:id="rId49"/>
    <p:sldId id="310" r:id="rId50"/>
    <p:sldId id="311" r:id="rId51"/>
    <p:sldId id="312" r:id="rId52"/>
    <p:sldId id="293" r:id="rId53"/>
    <p:sldId id="295" r:id="rId54"/>
    <p:sldId id="296" r:id="rId55"/>
    <p:sldId id="297" r:id="rId56"/>
    <p:sldId id="263" r:id="rId57"/>
  </p:sldIdLst>
  <p:sldSz cx="18288000" cy="10287000"/>
  <p:notesSz cx="6858000" cy="9144000"/>
  <p:embeddedFontLst>
    <p:embeddedFont>
      <p:font typeface="Cambria Math" panose="02040503050406030204" pitchFamily="18" charset="0"/>
      <p:regular r:id="rId59"/>
    </p:embeddedFont>
    <p:embeddedFont>
      <p:font typeface="Montnapha" panose="020B0604020202020204" charset="-34"/>
      <p:regular r:id="rId60"/>
    </p:embeddedFont>
    <p:embeddedFont>
      <p:font typeface="Montserrat Bold"/>
      <p:regular r:id="rId61"/>
      <p:bold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156CA-E375-46A4-AA03-30971EE358EC}">
          <p14:sldIdLst>
            <p14:sldId id="256"/>
            <p14:sldId id="257"/>
            <p14:sldId id="258"/>
            <p14:sldId id="260"/>
            <p14:sldId id="259"/>
            <p14:sldId id="262"/>
          </p14:sldIdLst>
        </p14:section>
        <p14:section name="Untitled Section" id="{BF8104B0-1CDC-4CAD-A593-6D2D8C0D0D44}">
          <p14:sldIdLst>
            <p14:sldId id="261"/>
            <p14:sldId id="264"/>
            <p14:sldId id="271"/>
            <p14:sldId id="265"/>
            <p14:sldId id="267"/>
            <p14:sldId id="268"/>
            <p14:sldId id="266"/>
            <p14:sldId id="269"/>
            <p14:sldId id="270"/>
            <p14:sldId id="272"/>
            <p14:sldId id="273"/>
            <p14:sldId id="280"/>
            <p14:sldId id="274"/>
            <p14:sldId id="275"/>
            <p14:sldId id="277"/>
            <p14:sldId id="276"/>
            <p14:sldId id="278"/>
            <p14:sldId id="279"/>
            <p14:sldId id="281"/>
            <p14:sldId id="299"/>
            <p14:sldId id="300"/>
            <p14:sldId id="282"/>
            <p14:sldId id="298"/>
            <p14:sldId id="301"/>
            <p14:sldId id="302"/>
            <p14:sldId id="283"/>
            <p14:sldId id="284"/>
            <p14:sldId id="304"/>
            <p14:sldId id="285"/>
            <p14:sldId id="286"/>
            <p14:sldId id="303"/>
            <p14:sldId id="287"/>
            <p14:sldId id="288"/>
            <p14:sldId id="289"/>
            <p14:sldId id="290"/>
            <p14:sldId id="291"/>
            <p14:sldId id="292"/>
            <p14:sldId id="307"/>
            <p14:sldId id="305"/>
            <p14:sldId id="306"/>
            <p14:sldId id="308"/>
            <p14:sldId id="309"/>
            <p14:sldId id="310"/>
            <p14:sldId id="311"/>
            <p14:sldId id="312"/>
            <p14:sldId id="293"/>
            <p14:sldId id="295"/>
            <p14:sldId id="296"/>
            <p14:sldId id="29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91" autoAdjust="0"/>
  </p:normalViewPr>
  <p:slideViewPr>
    <p:cSldViewPr>
      <p:cViewPr varScale="1">
        <p:scale>
          <a:sx n="46" d="100"/>
          <a:sy n="46" d="100"/>
        </p:scale>
        <p:origin x="69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09100-B98D-416F-A557-73F735376D2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FBD57-B858-4C41-8498-B4160D44D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menambahkan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skrip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modifikasinya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)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perbedaan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punya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alifah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kemudian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perlu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istilah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langsung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contoh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“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pixelnya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bridge).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Kenapa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bisa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?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visual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Gambar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gambar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Jika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garis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gimana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? Kan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garisnya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Coba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pembacaan</a:t>
            </a:r>
            <a:r>
              <a:rPr lang="en-US" dirty="0"/>
              <a:t> </a:t>
            </a:r>
            <a:r>
              <a:rPr lang="en-US" dirty="0" err="1"/>
              <a:t>hurufnya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darimana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Analisa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bahwa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greedy TSP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membaca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bukan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edges. Jadi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hrus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diperbaiki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supaya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ini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berlaku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 dan tulisan yang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kurang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skeleton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Dasar curve reconstruction pada </a:t>
            </a:r>
            <a:r>
              <a:rPr lang="en-US" dirty="0" err="1"/>
              <a:t>skrip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pemisahan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per connected component,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yang </a:t>
            </a:r>
            <a:r>
              <a:rPr lang="en-US" dirty="0" err="1"/>
              <a:t>direkonstruksi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masing-masing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9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6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F40-65AF-C685-80E4-22A3C898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78CAC-7309-8A75-7FF8-BA48E027B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7666-6C0C-E8FA-6668-C69EFB44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079D-4B3C-27AB-C70B-A2207D1E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D7912-D0E4-7C08-F075-3709BD66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F3A-915F-6ABB-42A9-2A1CBEA4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AADA-06C3-3F20-9703-579A08BD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3D30C-F2DB-054C-A309-9018E45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28C9-B024-853D-4CE6-DA06DF7F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22FD-B430-8571-3120-1879E264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F6B1-E224-683F-5B5E-CF7C5A93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0B0D2-B9F6-B79A-4770-BC79A4C78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334-4E62-C524-08CA-F3F12FAD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047A-8F73-0B4E-51A2-EF1F4CF1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3224-8F35-7BEE-0CBA-96EC6F9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C17E-47C6-2E32-73D6-8FBBEE71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1C3E-3656-6399-5F7D-8E8D73DD0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2A51-A83A-32D3-AB30-550DE70B5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1B24-4177-A578-5A0B-D607C27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7EA9-F6C4-8C52-66CA-0CBCB5CF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5780-C79D-8DAC-E0D7-6F134E9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3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8A54-B068-4FD1-0528-83B651B3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5808-B26D-DBA9-6EFA-9D0B3B19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33193-7537-4DBE-60F5-F9C8651D2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4CFD7-9EF6-28A9-8174-65BAB83D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09B2F-5088-7978-1270-521512146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4DAAF-6AF7-BC7F-BF0B-7F33FC01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C41E3-6FD9-3C64-8DDC-F6D69CC8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CBBB3-3140-E5F1-0067-6D2CD2E3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067-A668-221B-DA24-CD8840A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8202B-77F4-52EA-2B65-8952F39A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8C9CE-544F-A0B6-2822-4873B694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B4FD0-B929-152F-58C8-BBC5FE8E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C75D4-6D76-4BED-CF60-67AAEDF6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FC82-264E-8C2F-05F8-D1348001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B735-D778-2897-45A3-033EEE3F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28A9-12FB-7EB6-A64A-FF3C1522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E282-585A-BBA9-7FB7-894E7DEF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A6ABB-4223-C63B-CAE6-1BA646A6E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FCC39-15F4-13D6-B27C-BC103203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9992-05E6-D4F2-5844-C84049B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10579-0394-086B-FE2C-6BE10966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0CD5-89CB-434F-3DEE-76ED4FA5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A59F3-B54C-C94A-43E8-5C2ACF4DD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04EE-FA2E-EBF7-EA77-CED94DA8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E03F3-684B-918A-D5A9-CBEB32F9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2821-9263-A347-4700-03A5D1D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B2E4-998A-421C-0B52-03F252AD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F62C-61CA-0E32-E252-5DC1752B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14BC-3A2A-9141-F1AF-771A0A00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B9A1-7B4E-C05B-F4D0-928E585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FFBD-555D-615C-4BF3-42962BE8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8960-6820-1092-E15B-CC37926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B9488-367A-312B-E945-9A6EA5737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4718B-1D78-E06D-B62B-643EA45FA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0154-AF30-5027-AFF2-27FDA614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742-47BA-620A-D000-FEB8D5F1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F8C-6E24-3219-7F15-031D3B2E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3FF5F-AF64-427D-924D-167737B9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AF970-1912-E942-8906-CEB4F4030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9D5D-ACBD-0C9C-610A-F31EF1C1A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BD78-6B91-CB8C-6B03-BA6C91D60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A318-ECF8-32CD-966F-021632E0E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image.org/docs/stable/api/skimage.morphology.html#skimage.morphology.skeletoniz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5315717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26379" y="3496381"/>
            <a:ext cx="12035243" cy="165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80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 REPORT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7064" y="5681027"/>
            <a:ext cx="953387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sz="4508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Setiawan Cahyono 202269040066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14642" y="924631"/>
            <a:ext cx="789293" cy="1028700"/>
          </a:xfrm>
          <a:custGeom>
            <a:avLst/>
            <a:gdLst/>
            <a:ahLst/>
            <a:cxnLst/>
            <a:rect l="l" t="t" r="r" b="b"/>
            <a:pathLst>
              <a:path w="789293" h="1028700">
                <a:moveTo>
                  <a:pt x="0" y="0"/>
                </a:moveTo>
                <a:lnTo>
                  <a:pt x="789294" y="0"/>
                </a:lnTo>
                <a:lnTo>
                  <a:pt x="7892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54" y="571500"/>
            <a:ext cx="6496061" cy="8686800"/>
          </a:xfrm>
          <a:custGeom>
            <a:avLst/>
            <a:gdLst/>
            <a:ahLst/>
            <a:cxnLst/>
            <a:rect l="l" t="t" r="r" b="b"/>
            <a:pathLst>
              <a:path w="4759772" h="6356958">
                <a:moveTo>
                  <a:pt x="0" y="0"/>
                </a:moveTo>
                <a:lnTo>
                  <a:pt x="4759773" y="0"/>
                </a:lnTo>
                <a:lnTo>
                  <a:pt x="475977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33715" y="2259891"/>
            <a:ext cx="11301259" cy="3362125"/>
          </a:xfrm>
          <a:custGeom>
            <a:avLst/>
            <a:gdLst/>
            <a:ahLst/>
            <a:cxnLst/>
            <a:rect l="l" t="t" r="r" b="b"/>
            <a:pathLst>
              <a:path w="11301259" h="3362125">
                <a:moveTo>
                  <a:pt x="0" y="0"/>
                </a:moveTo>
                <a:lnTo>
                  <a:pt x="11301259" y="0"/>
                </a:lnTo>
                <a:lnTo>
                  <a:pt x="11301259" y="3362125"/>
                </a:lnTo>
                <a:lnTo>
                  <a:pt x="0" y="336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2731518-489E-EDF6-607A-FE5F0BB91A62}"/>
              </a:ext>
            </a:extLst>
          </p:cNvPr>
          <p:cNvSpPr/>
          <p:nvPr/>
        </p:nvSpPr>
        <p:spPr>
          <a:xfrm>
            <a:off x="7676715" y="5183150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F188D-6A5D-4141-7BAE-8623CB19DEB5}"/>
              </a:ext>
            </a:extLst>
          </p:cNvPr>
          <p:cNvSpPr txBox="1"/>
          <p:nvPr/>
        </p:nvSpPr>
        <p:spPr>
          <a:xfrm>
            <a:off x="6605373" y="718599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163AF9C-1D66-E2D0-BC3D-0B167576FDD9}"/>
              </a:ext>
            </a:extLst>
          </p:cNvPr>
          <p:cNvSpPr/>
          <p:nvPr/>
        </p:nvSpPr>
        <p:spPr>
          <a:xfrm>
            <a:off x="9943230" y="4977389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2D62C-EB5A-3449-83E1-82E85EF32537}"/>
              </a:ext>
            </a:extLst>
          </p:cNvPr>
          <p:cNvSpPr txBox="1"/>
          <p:nvPr/>
        </p:nvSpPr>
        <p:spPr>
          <a:xfrm>
            <a:off x="8286315" y="696696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Belum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terpotong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1D191-F6EC-D539-474D-342C7DD2AFF4}"/>
              </a:ext>
            </a:extLst>
          </p:cNvPr>
          <p:cNvSpPr txBox="1"/>
          <p:nvPr/>
        </p:nvSpPr>
        <p:spPr>
          <a:xfrm>
            <a:off x="11486715" y="7236264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Pertengahan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76D4EDC-3CFF-CD13-116C-062C25B235DC}"/>
              </a:ext>
            </a:extLst>
          </p:cNvPr>
          <p:cNvSpPr/>
          <p:nvPr/>
        </p:nvSpPr>
        <p:spPr>
          <a:xfrm>
            <a:off x="12031944" y="5299703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AE879BA-005B-873B-F91C-CF6F71E56900}"/>
              </a:ext>
            </a:extLst>
          </p:cNvPr>
          <p:cNvSpPr txBox="1"/>
          <p:nvPr/>
        </p:nvSpPr>
        <p:spPr>
          <a:xfrm>
            <a:off x="4121564" y="89110"/>
            <a:ext cx="13811689" cy="137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72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Saran </a:t>
            </a:r>
            <a:r>
              <a:rPr lang="en-US" sz="72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72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238155" y="31173"/>
            <a:ext cx="13811689" cy="145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85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CA5EEA-CD2A-450A-BFDD-C16665D8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17747"/>
            <a:ext cx="5683542" cy="7594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6F6F3-6688-D0A7-4C0E-F51EBD24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506390"/>
            <a:ext cx="10578168" cy="4190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789058" y="870042"/>
            <a:ext cx="11205693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1466" lvl="1" algn="just">
              <a:lnSpc>
                <a:spcPts val="3780"/>
              </a:lnSpc>
            </a:pP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aturan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291466" lvl="1" algn="just">
              <a:lnSpc>
                <a:spcPts val="3780"/>
              </a:lnSpc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penghubung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2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menghasilkan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besar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dilakukan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dititik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dot/</a:t>
            </a:r>
            <a:r>
              <a:rPr lang="en-US" sz="2800" dirty="0" err="1"/>
              <a:t>diakritik</a:t>
            </a:r>
            <a:r>
              <a:rPr lang="en-US" sz="2800" dirty="0"/>
              <a:t> </a:t>
            </a:r>
            <a:r>
              <a:rPr lang="en-US" sz="2800" dirty="0" err="1"/>
              <a:t>terpisah</a:t>
            </a:r>
            <a:r>
              <a:rPr lang="en-US" sz="2800" dirty="0"/>
              <a:t>, </a:t>
            </a:r>
            <a:r>
              <a:rPr lang="en-US" sz="2800" b="1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hitung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</a:t>
            </a:r>
            <a:r>
              <a:rPr lang="en-US" sz="2800" dirty="0" err="1"/>
              <a:t>pemisah</a:t>
            </a:r>
            <a:r>
              <a:rPr lang="en-US" sz="2800" dirty="0"/>
              <a:t> </a:t>
            </a:r>
            <a:r>
              <a:rPr lang="en-US" sz="2800" dirty="0" err="1"/>
              <a:t>anatara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utama</a:t>
            </a:r>
            <a:r>
              <a:rPr lang="en-US" sz="2800" dirty="0"/>
              <a:t>/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dan </a:t>
            </a:r>
            <a:r>
              <a:rPr lang="en-US" sz="2800" b="1" dirty="0" err="1"/>
              <a:t>tempelkan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paling </a:t>
            </a:r>
            <a:r>
              <a:rPr lang="en-US" sz="2800" dirty="0" err="1"/>
              <a:t>kecil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dibuatkan</a:t>
            </a:r>
            <a:r>
              <a:rPr lang="en-US" sz="2800" dirty="0"/>
              <a:t> </a:t>
            </a:r>
            <a:r>
              <a:rPr lang="en-US" sz="2800" b="1" dirty="0"/>
              <a:t>background </a:t>
            </a:r>
            <a:r>
              <a:rPr lang="en-US" sz="2800" b="1" dirty="0" err="1"/>
              <a:t>kosong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lalu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mengaktifkan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milik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), </a:t>
            </a:r>
            <a:r>
              <a:rPr lang="en-US" sz="2800" b="1" dirty="0" err="1"/>
              <a:t>maka</a:t>
            </a:r>
            <a:r>
              <a:rPr lang="en-US" sz="2800" dirty="0"/>
              <a:t> proses </a:t>
            </a:r>
            <a:r>
              <a:rPr lang="en-US" sz="2800" dirty="0" err="1"/>
              <a:t>pemotongan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dan </a:t>
            </a:r>
            <a:r>
              <a:rPr lang="en-US" sz="2800" dirty="0" err="1"/>
              <a:t>tidak</a:t>
            </a:r>
            <a:r>
              <a:rPr lang="en-US" sz="2800" dirty="0"/>
              <a:t> “</a:t>
            </a:r>
            <a:r>
              <a:rPr lang="en-US" sz="2800" dirty="0" err="1"/>
              <a:t>ketarik</a:t>
            </a:r>
            <a:r>
              <a:rPr lang="en-US" sz="2800" dirty="0"/>
              <a:t>”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lain.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penulisan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kiri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pemotongan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5930" y="4082231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Panjang,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karena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jarak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Panjang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pendek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176EF89-96B7-D06D-8AC4-D35DCE99522D}"/>
              </a:ext>
            </a:extLst>
          </p:cNvPr>
          <p:cNvSpPr txBox="1"/>
          <p:nvPr/>
        </p:nvSpPr>
        <p:spPr>
          <a:xfrm>
            <a:off x="3225487" y="7458677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juga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ganda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E9112C-E342-DEF2-381C-A8E0E38AB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38" y="1337605"/>
            <a:ext cx="12130679" cy="2577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0B9785-FA04-5D8D-4DF8-C21467841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90603"/>
            <a:ext cx="17145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541F-ED26-681C-41E9-31DBBA65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71500"/>
            <a:ext cx="8610600" cy="7167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Masukan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4C813-CAF3-FFD5-CEFC-543F39227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1298646"/>
            <a:ext cx="13716000" cy="3692454"/>
          </a:xfrm>
        </p:spPr>
        <p:txBody>
          <a:bodyPr>
            <a:normAutofit/>
          </a:bodyPr>
          <a:lstStyle/>
          <a:p>
            <a:pPr marL="742950" indent="-742950" algn="l">
              <a:buAutoNum type="arabicPeriod"/>
            </a:pPr>
            <a:r>
              <a:rPr lang="en-US" dirty="0" err="1"/>
              <a:t>Persimpangan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r>
              <a:rPr lang="en-US" dirty="0"/>
              <a:t>(junction)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algoritmanya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.</a:t>
            </a:r>
          </a:p>
          <a:p>
            <a:pPr marL="742950" indent="-742950" algn="l">
              <a:buAutoNum type="arabi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terhapus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skeleton, kayak </a:t>
            </a:r>
            <a:r>
              <a:rPr lang="en-US" dirty="0" err="1"/>
              <a:t>wawu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(dot/</a:t>
            </a:r>
            <a:r>
              <a:rPr lang="en-US" dirty="0" err="1"/>
              <a:t>diakritik</a:t>
            </a:r>
            <a:r>
              <a:rPr lang="en-US" dirty="0"/>
              <a:t>), </a:t>
            </a:r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morfologinya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thresholdingnya</a:t>
            </a:r>
            <a:r>
              <a:rPr lang="en-US" dirty="0"/>
              <a:t> (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parameternya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0E45-19E4-DA53-CB24-A05DFCDA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>
            <a:extLst>
              <a:ext uri="{FF2B5EF4-FFF2-40B4-BE49-F238E27FC236}">
                <a16:creationId xmlns:a16="http://schemas.microsoft.com/office/drawing/2014/main" id="{5884099C-07DC-E8AA-6459-0E85D22812C8}"/>
              </a:ext>
            </a:extLst>
          </p:cNvPr>
          <p:cNvSpPr txBox="1"/>
          <p:nvPr/>
        </p:nvSpPr>
        <p:spPr>
          <a:xfrm>
            <a:off x="3225487" y="7458677"/>
            <a:ext cx="1141613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25AF-FC95-4B08-02D6-55246A88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04" y="1129240"/>
            <a:ext cx="9496391" cy="2320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D2447-F5EA-3C53-B1D3-2B9B3A9F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7" y="5376519"/>
            <a:ext cx="13111775" cy="26479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3F287EA-CF7B-9A6A-FB68-46FF7ABE4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89623"/>
            <a:ext cx="13716000" cy="56825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0B225-64B7-6F41-768B-9EFB392DA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579" y="3736941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0E5D365-8B6F-F57D-487E-2001C4306EF0}"/>
              </a:ext>
            </a:extLst>
          </p:cNvPr>
          <p:cNvSpPr txBox="1">
            <a:spLocks/>
          </p:cNvSpPr>
          <p:nvPr/>
        </p:nvSpPr>
        <p:spPr>
          <a:xfrm>
            <a:off x="457200" y="48962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r>
              <a:rPr lang="en-US" dirty="0"/>
              <a:t> </a:t>
            </a:r>
            <a:r>
              <a:rPr lang="en-US" dirty="0" err="1"/>
              <a:t>perbaikan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DB6CB-D9BE-D88D-F069-246453D6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603712"/>
            <a:ext cx="12357149" cy="24955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541A96-1FB4-177C-48E5-5C77FC4B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30099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9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629C-97AF-7456-3523-99028F3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C687-0F10-68ED-5751-CD124709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di threshold </a:t>
            </a:r>
          </a:p>
          <a:p>
            <a:r>
              <a:rPr lang="en-US" dirty="0" err="1"/>
              <a:t>Pendeteksian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(hole)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wawu</a:t>
            </a:r>
            <a:endParaRPr lang="en-US" dirty="0"/>
          </a:p>
          <a:p>
            <a:r>
              <a:rPr lang="en-US" dirty="0" err="1"/>
              <a:t>Memakai</a:t>
            </a:r>
            <a:r>
              <a:rPr lang="en-US" dirty="0"/>
              <a:t> adaptive threshold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terputus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morfologi</a:t>
            </a:r>
            <a:r>
              <a:rPr lang="en-US" dirty="0"/>
              <a:t> ellipse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3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2A89-6E60-8DB4-131D-01E71BCA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</a:t>
            </a:r>
            <a:r>
              <a:rPr lang="en-US" dirty="0" err="1"/>
              <a:t>medialaxis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C97B3-020B-CAD6-4FA0-30C1DC13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4584683"/>
            <a:ext cx="11500332" cy="23225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8D11F2-DB1A-362F-4DBB-CEC50709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28575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4D845-3555-C5E8-AFDE-228B39EA1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28700"/>
            <a:ext cx="12357149" cy="24955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CD95C7A-3D0E-0F84-9099-9A5344B5D881}"/>
              </a:ext>
            </a:extLst>
          </p:cNvPr>
          <p:cNvSpPr txBox="1">
            <a:spLocks/>
          </p:cNvSpPr>
          <p:nvPr/>
        </p:nvSpPr>
        <p:spPr>
          <a:xfrm>
            <a:off x="533400" y="3412424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skimage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3DC98E-A028-E31B-E9B6-8DC6E1E8ECA5}"/>
              </a:ext>
            </a:extLst>
          </p:cNvPr>
          <p:cNvSpPr txBox="1">
            <a:spLocks/>
          </p:cNvSpPr>
          <p:nvPr/>
        </p:nvSpPr>
        <p:spPr>
          <a:xfrm>
            <a:off x="2857500" y="897417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DE71C0-6E6D-A5DC-176C-F8F6D12C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9" y="3437762"/>
            <a:ext cx="12357149" cy="2495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FF9D2-D38A-035F-9BED-378CF303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65" y="5988098"/>
            <a:ext cx="11657615" cy="2354307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285ACD53-84CB-9443-EAC4-7740A28ED722}"/>
              </a:ext>
            </a:extLst>
          </p:cNvPr>
          <p:cNvSpPr txBox="1">
            <a:spLocks/>
          </p:cNvSpPr>
          <p:nvPr/>
        </p:nvSpPr>
        <p:spPr>
          <a:xfrm>
            <a:off x="552450" y="460446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Simple ITK</a:t>
            </a:r>
          </a:p>
        </p:txBody>
      </p:sp>
    </p:spTree>
    <p:extLst>
      <p:ext uri="{BB962C8B-B14F-4D97-AF65-F5344CB8AC3E}">
        <p14:creationId xmlns:p14="http://schemas.microsoft.com/office/powerpoint/2010/main" val="266638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FA5B-7197-90B6-1889-A192CBE0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9639300" cy="633412"/>
          </a:xfrm>
        </p:spPr>
        <p:txBody>
          <a:bodyPr>
            <a:noAutofit/>
          </a:bodyPr>
          <a:lstStyle/>
          <a:p>
            <a:r>
              <a:rPr lang="en-US" sz="4400" dirty="0" err="1"/>
              <a:t>Pemotongan</a:t>
            </a:r>
            <a:r>
              <a:rPr lang="en-US" sz="4400" dirty="0"/>
              <a:t> </a:t>
            </a:r>
            <a:r>
              <a:rPr lang="en-US" sz="4400" dirty="0" err="1"/>
              <a:t>persimpangan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83FE1-B190-EB7C-86AA-1514D51E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21" y="1485901"/>
            <a:ext cx="13762779" cy="2924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28385-5754-E7AA-7904-AABF6388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358933"/>
            <a:ext cx="17030700" cy="1445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DC6A-FF01-1B10-8FC5-E80CFDDF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86500"/>
            <a:ext cx="3784566" cy="1445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5204B-EECE-CF48-3569-AD54DCE88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825329"/>
            <a:ext cx="4724400" cy="199963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0AB95B-09D5-9856-138B-08F0B7920954}"/>
              </a:ext>
            </a:extLst>
          </p:cNvPr>
          <p:cNvSpPr/>
          <p:nvPr/>
        </p:nvSpPr>
        <p:spPr>
          <a:xfrm>
            <a:off x="4876800" y="7009394"/>
            <a:ext cx="18288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286B12-9747-B93C-C885-BA07A092E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01" y="8260271"/>
            <a:ext cx="1426598" cy="1661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2B94ED-FA63-DC02-6FAD-8B32CE12B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330" y="8214067"/>
            <a:ext cx="1438305" cy="162591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36B132D1-528F-5961-25D1-CBC2021BCCB0}"/>
              </a:ext>
            </a:extLst>
          </p:cNvPr>
          <p:cNvSpPr/>
          <p:nvPr/>
        </p:nvSpPr>
        <p:spPr>
          <a:xfrm>
            <a:off x="3733800" y="8801100"/>
            <a:ext cx="45720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7AEB040-5CD4-7009-E7AB-D8F718077352}"/>
              </a:ext>
            </a:extLst>
          </p:cNvPr>
          <p:cNvSpPr txBox="1">
            <a:spLocks/>
          </p:cNvSpPr>
          <p:nvPr/>
        </p:nvSpPr>
        <p:spPr>
          <a:xfrm>
            <a:off x="4622766" y="8298403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Belum </a:t>
            </a:r>
            <a:r>
              <a:rPr lang="en-US" sz="3200" dirty="0" err="1"/>
              <a:t>terpotong</a:t>
            </a:r>
            <a:endParaRPr lang="en-US" sz="32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EE5C756-7C2F-E3C5-4EDB-59FAD8714351}"/>
              </a:ext>
            </a:extLst>
          </p:cNvPr>
          <p:cNvSpPr txBox="1">
            <a:spLocks/>
          </p:cNvSpPr>
          <p:nvPr/>
        </p:nvSpPr>
        <p:spPr>
          <a:xfrm>
            <a:off x="4643843" y="6409631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terpotong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68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646A-6300-9AE0-808E-DBF52588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88FC-0D22-66A4-2777-6127D055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Pemotongan</a:t>
            </a:r>
            <a:r>
              <a:rPr lang="en-US" sz="5400" dirty="0"/>
              <a:t> junction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B0C04-E3B2-AD88-363F-510DC7B6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15" y="2324100"/>
            <a:ext cx="12527569" cy="2682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084E-2CD7-F3E6-2B48-0397762F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81600"/>
            <a:ext cx="17373600" cy="1453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8A5D5B-D7C1-0B09-208E-CCC1C2A4F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25" y="7642584"/>
            <a:ext cx="2679150" cy="209672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D64C929-4EF8-B641-1D91-94EE3DD567C2}"/>
              </a:ext>
            </a:extLst>
          </p:cNvPr>
          <p:cNvSpPr/>
          <p:nvPr/>
        </p:nvSpPr>
        <p:spPr>
          <a:xfrm>
            <a:off x="8915400" y="6783427"/>
            <a:ext cx="228600" cy="869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87E52D-E77C-5CAE-FBED-D57D25BACF7B}"/>
              </a:ext>
            </a:extLst>
          </p:cNvPr>
          <p:cNvSpPr txBox="1">
            <a:spLocks/>
          </p:cNvSpPr>
          <p:nvPr/>
        </p:nvSpPr>
        <p:spPr>
          <a:xfrm>
            <a:off x="468904" y="7141386"/>
            <a:ext cx="7760695" cy="869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Rules : Logika </a:t>
            </a:r>
            <a:r>
              <a:rPr lang="en-US" sz="5400" dirty="0" err="1"/>
              <a:t>pemotongan</a:t>
            </a:r>
            <a:r>
              <a:rPr lang="en-US" sz="5400" dirty="0"/>
              <a:t> </a:t>
            </a:r>
            <a:r>
              <a:rPr lang="en-US" sz="5400" dirty="0" err="1"/>
              <a:t>antara</a:t>
            </a:r>
            <a:r>
              <a:rPr lang="en-US" sz="5400" dirty="0"/>
              <a:t> 2 </a:t>
            </a:r>
            <a:r>
              <a:rPr lang="en-US" sz="5400" dirty="0" err="1"/>
              <a:t>baru</a:t>
            </a:r>
            <a:r>
              <a:rPr lang="en-US" sz="5400" dirty="0"/>
              <a:t> </a:t>
            </a:r>
            <a:r>
              <a:rPr lang="en-US" sz="5400" dirty="0" err="1"/>
              <a:t>bagian</a:t>
            </a:r>
            <a:r>
              <a:rPr lang="en-US" sz="5400" dirty="0"/>
              <a:t> Tengah </a:t>
            </a:r>
            <a:r>
              <a:rPr lang="en-US" sz="5400" dirty="0" err="1"/>
              <a:t>ada</a:t>
            </a:r>
            <a:r>
              <a:rPr lang="en-US" sz="5400" dirty="0"/>
              <a:t> </a:t>
            </a:r>
            <a:r>
              <a:rPr lang="en-US" sz="5400" dirty="0" err="1"/>
              <a:t>leher</a:t>
            </a:r>
            <a:r>
              <a:rPr lang="en-US" sz="5400" dirty="0"/>
              <a:t> </a:t>
            </a:r>
            <a:r>
              <a:rPr lang="en-US" sz="5400" dirty="0" err="1"/>
              <a:t>maka</a:t>
            </a:r>
            <a:r>
              <a:rPr lang="en-US" sz="5400" dirty="0"/>
              <a:t> </a:t>
            </a:r>
            <a:r>
              <a:rPr lang="en-US" sz="5400" dirty="0" err="1"/>
              <a:t>akan</a:t>
            </a:r>
            <a:r>
              <a:rPr lang="en-US" sz="5400" dirty="0"/>
              <a:t> </a:t>
            </a:r>
            <a:r>
              <a:rPr lang="en-US" sz="5400" dirty="0" err="1"/>
              <a:t>memotong</a:t>
            </a:r>
            <a:r>
              <a:rPr lang="en-US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08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AFC-DB09-BCFA-C8C1-AD9B567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07823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junction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0FA9-C764-BFFB-5D47-CE3ED5FD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26" y="1462325"/>
            <a:ext cx="11460148" cy="2454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024CF-ED69-320D-0E26-D080E325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6640"/>
            <a:ext cx="18288000" cy="124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C7E4B-0251-B59D-6D0F-810A29D6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24500"/>
            <a:ext cx="1619306" cy="1754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D69D23-9888-5C57-1288-5A9162664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576227"/>
            <a:ext cx="2321443" cy="1589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4D21A0-4878-9A25-70BB-32B1843FB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4682" y="5524500"/>
            <a:ext cx="1607038" cy="1708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D36AFE-D830-F44F-8DC4-CC541337E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0" y="5483550"/>
            <a:ext cx="1438327" cy="20652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519AFA-E78E-2EDC-C2FE-85371E8B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380" y="5478788"/>
            <a:ext cx="1754247" cy="1754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E29B2A-25B5-1C62-5B2E-425DDCC40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310" y="5526967"/>
            <a:ext cx="4031396" cy="1754247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31CBA0E-3073-A973-2683-644FD968B4CC}"/>
              </a:ext>
            </a:extLst>
          </p:cNvPr>
          <p:cNvGraphicFramePr>
            <a:graphicFrameLocks noGrp="1"/>
          </p:cNvGraphicFramePr>
          <p:nvPr/>
        </p:nvGraphicFramePr>
        <p:xfrm>
          <a:off x="6011694" y="5330757"/>
          <a:ext cx="6186791" cy="1964988"/>
        </p:xfrm>
        <a:graphic>
          <a:graphicData uri="http://schemas.openxmlformats.org/drawingml/2006/table">
            <a:tbl>
              <a:tblPr/>
              <a:tblGrid>
                <a:gridCol w="6186791">
                  <a:extLst>
                    <a:ext uri="{9D8B030D-6E8A-4147-A177-3AD203B41FA5}">
                      <a16:colId xmlns:a16="http://schemas.microsoft.com/office/drawing/2014/main" val="3286383826"/>
                    </a:ext>
                  </a:extLst>
                </a:gridCol>
              </a:tblGrid>
              <a:tr h="19649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654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6EDA13D-50F2-1247-9E93-0E2E3C4A9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34247"/>
              </p:ext>
            </p:extLst>
          </p:nvPr>
        </p:nvGraphicFramePr>
        <p:xfrm>
          <a:off x="525294" y="5428034"/>
          <a:ext cx="5077838" cy="2003898"/>
        </p:xfrm>
        <a:graphic>
          <a:graphicData uri="http://schemas.openxmlformats.org/drawingml/2006/table">
            <a:tbl>
              <a:tblPr/>
              <a:tblGrid>
                <a:gridCol w="5077838">
                  <a:extLst>
                    <a:ext uri="{9D8B030D-6E8A-4147-A177-3AD203B41FA5}">
                      <a16:colId xmlns:a16="http://schemas.microsoft.com/office/drawing/2014/main" val="613947213"/>
                    </a:ext>
                  </a:extLst>
                </a:gridCol>
              </a:tblGrid>
              <a:tr h="2003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77083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19887E-991D-F96A-5CBB-A83DEF07B6FF}"/>
              </a:ext>
            </a:extLst>
          </p:cNvPr>
          <p:cNvGraphicFramePr>
            <a:graphicFrameLocks noGrp="1"/>
          </p:cNvGraphicFramePr>
          <p:nvPr/>
        </p:nvGraphicFramePr>
        <p:xfrm>
          <a:off x="14027285" y="5369668"/>
          <a:ext cx="3677055" cy="2393004"/>
        </p:xfrm>
        <a:graphic>
          <a:graphicData uri="http://schemas.openxmlformats.org/drawingml/2006/table">
            <a:tbl>
              <a:tblPr/>
              <a:tblGrid>
                <a:gridCol w="3677055">
                  <a:extLst>
                    <a:ext uri="{9D8B030D-6E8A-4147-A177-3AD203B41FA5}">
                      <a16:colId xmlns:a16="http://schemas.microsoft.com/office/drawing/2014/main" val="28068326"/>
                    </a:ext>
                  </a:extLst>
                </a:gridCol>
              </a:tblGrid>
              <a:tr h="2393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20429"/>
                  </a:ext>
                </a:extLst>
              </a:tr>
            </a:tbl>
          </a:graphicData>
        </a:graphic>
      </p:graphicFrame>
      <p:sp>
        <p:nvSpPr>
          <p:cNvPr id="30" name="Title 1">
            <a:extLst>
              <a:ext uri="{FF2B5EF4-FFF2-40B4-BE49-F238E27FC236}">
                <a16:creationId xmlns:a16="http://schemas.microsoft.com/office/drawing/2014/main" id="{6185239C-30E3-4D9B-E0DD-9F425F4961DE}"/>
              </a:ext>
            </a:extLst>
          </p:cNvPr>
          <p:cNvSpPr txBox="1">
            <a:spLocks/>
          </p:cNvSpPr>
          <p:nvPr/>
        </p:nvSpPr>
        <p:spPr>
          <a:xfrm>
            <a:off x="525294" y="7739036"/>
            <a:ext cx="2675106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E7FFE2B-17C3-62E2-CEDF-AC934DC6581F}"/>
              </a:ext>
            </a:extLst>
          </p:cNvPr>
          <p:cNvSpPr txBox="1">
            <a:spLocks/>
          </p:cNvSpPr>
          <p:nvPr/>
        </p:nvSpPr>
        <p:spPr>
          <a:xfrm>
            <a:off x="6032771" y="7692702"/>
            <a:ext cx="5591782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wawu</a:t>
            </a:r>
            <a:r>
              <a:rPr lang="en-US" dirty="0"/>
              <a:t> juga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BE34E6D-6942-0932-52B4-81C6E12CE4F1}"/>
              </a:ext>
            </a:extLst>
          </p:cNvPr>
          <p:cNvSpPr txBox="1">
            <a:spLocks/>
          </p:cNvSpPr>
          <p:nvPr/>
        </p:nvSpPr>
        <p:spPr>
          <a:xfrm>
            <a:off x="13563600" y="7902656"/>
            <a:ext cx="4008120" cy="1965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AutoNum type="arabicPeriod"/>
            </a:pPr>
            <a:r>
              <a:rPr lang="en-US" dirty="0"/>
              <a:t>Belum </a:t>
            </a:r>
            <a:r>
              <a:rPr lang="en-US" dirty="0" err="1"/>
              <a:t>terpotong</a:t>
            </a:r>
            <a:endParaRPr lang="en-US" dirty="0"/>
          </a:p>
          <a:p>
            <a:pPr marL="1143000" indent="-1143000">
              <a:buAutoNum type="arabicPeriod"/>
            </a:pPr>
            <a:r>
              <a:rPr lang="en-US" dirty="0" err="1"/>
              <a:t>Huruf</a:t>
            </a:r>
            <a:r>
              <a:rPr lang="en-US" dirty="0"/>
              <a:t> alif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di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409F-255E-9069-99F1-C6DB2AE5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7730-864F-D665-BFED-F58BCE88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tiang</a:t>
            </a:r>
            <a:r>
              <a:rPr lang="en-US" dirty="0"/>
              <a:t> Panjang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perputaran</a:t>
            </a:r>
            <a:r>
              <a:rPr lang="en-US" dirty="0"/>
              <a:t> (looping),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putus</a:t>
            </a:r>
            <a:r>
              <a:rPr lang="en-US" dirty="0"/>
              <a:t> di </a:t>
            </a:r>
            <a:r>
              <a:rPr lang="en-US" dirty="0" err="1"/>
              <a:t>dekat</a:t>
            </a:r>
            <a:r>
              <a:rPr lang="en-US" dirty="0"/>
              <a:t> looping</a:t>
            </a:r>
          </a:p>
          <a:p>
            <a:pPr marL="742950" indent="-742950">
              <a:buAutoNum type="arabicPeriod"/>
            </a:pPr>
            <a:r>
              <a:rPr lang="en-US" dirty="0" err="1"/>
              <a:t>Potong</a:t>
            </a:r>
            <a:r>
              <a:rPr lang="en-US" dirty="0"/>
              <a:t> Ketika </a:t>
            </a:r>
            <a:r>
              <a:rPr lang="en-US" dirty="0" err="1"/>
              <a:t>memiliki</a:t>
            </a:r>
            <a:r>
              <a:rPr lang="en-US" dirty="0"/>
              <a:t> 3 </a:t>
            </a:r>
            <a:r>
              <a:rPr lang="en-US" dirty="0" err="1"/>
              <a:t>jalur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6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6097-FC56-EC0A-AEDA-09DED757E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048500"/>
            <a:ext cx="16802100" cy="2216945"/>
          </a:xfrm>
        </p:spPr>
        <p:txBody>
          <a:bodyPr/>
          <a:lstStyle/>
          <a:p>
            <a:r>
              <a:rPr lang="en-US" dirty="0"/>
              <a:t>DT(skeleton-&gt;contour) mean/median/min/max: 2.407801389694214/ 2.196899890899658/ 0.0/ 5.599999904632568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F647B-A2FB-43CD-E377-A5DEB46E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47688"/>
            <a:ext cx="9831282" cy="2444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B4B7E-9E6D-F2B0-E17F-DE58206D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905847"/>
            <a:ext cx="9831282" cy="2444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4D013C-51EF-7539-A3FC-44306F1FE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613" y="5143500"/>
            <a:ext cx="9239512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32AE-C009-9978-2710-5123683C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356E8-5CE1-2A73-010B-3AC6AF42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84" y="1446481"/>
            <a:ext cx="11306896" cy="276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CC3EB7-4752-3544-46B0-8ABD86B5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246" y="4257911"/>
            <a:ext cx="12397683" cy="2503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09AF2-1A5F-A8E3-C53A-207462D69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489" y="6761678"/>
            <a:ext cx="12397683" cy="25037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41166AD-54DD-7939-0698-9876644C5FF8}"/>
              </a:ext>
            </a:extLst>
          </p:cNvPr>
          <p:cNvSpPr/>
          <p:nvPr/>
        </p:nvSpPr>
        <p:spPr>
          <a:xfrm rot="16200000">
            <a:off x="6515100" y="907494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600D8B1-6804-79E7-E314-2F5B49BCF419}"/>
              </a:ext>
            </a:extLst>
          </p:cNvPr>
          <p:cNvSpPr/>
          <p:nvPr/>
        </p:nvSpPr>
        <p:spPr>
          <a:xfrm rot="16200000">
            <a:off x="5753100" y="919639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E6CEBB6-FF3B-58C4-47D8-F47FCFF0B4AB}"/>
              </a:ext>
            </a:extLst>
          </p:cNvPr>
          <p:cNvSpPr/>
          <p:nvPr/>
        </p:nvSpPr>
        <p:spPr>
          <a:xfrm rot="9446392">
            <a:off x="9517677" y="740396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2F5ECE-5D92-635A-1D0D-3CD19FB7DA20}"/>
              </a:ext>
            </a:extLst>
          </p:cNvPr>
          <p:cNvSpPr/>
          <p:nvPr/>
        </p:nvSpPr>
        <p:spPr>
          <a:xfrm rot="16200000">
            <a:off x="11696700" y="8948184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9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0DA0-DC33-4046-2E6A-F2DD326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voronoi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6B9D3-68D5-9207-AB6B-00409EAA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boundary/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sampling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Membuat</a:t>
            </a:r>
            <a:r>
              <a:rPr lang="en-US" dirty="0"/>
              <a:t> diagram Voronoi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edge/ridge Voronoi yang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didalam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  (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ditengah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)</a:t>
            </a:r>
          </a:p>
          <a:p>
            <a:r>
              <a:rPr lang="en-US" dirty="0" err="1"/>
              <a:t>Prunning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distance transform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skeleton yang DT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 garis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noise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cabang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US" dirty="0"/>
          </a:p>
          <a:p>
            <a:r>
              <a:rPr lang="en-US" dirty="0"/>
              <a:t>thinning</a:t>
            </a:r>
          </a:p>
        </p:txBody>
      </p:sp>
    </p:spTree>
    <p:extLst>
      <p:ext uri="{BB962C8B-B14F-4D97-AF65-F5344CB8AC3E}">
        <p14:creationId xmlns:p14="http://schemas.microsoft.com/office/powerpoint/2010/main" val="168437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5F00-BCA4-9BF1-885F-7536429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6227E0-C5D9-34D7-D48E-190138267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768"/>
            <a:ext cx="17834233" cy="113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784C3-919E-417F-422F-26C29978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7" y="3893675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2B9EE-4E70-8546-BE60-E430DFBCF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743" y="34149"/>
            <a:ext cx="11306896" cy="2763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14D29-144A-1C43-C977-4A06E798F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6440050"/>
            <a:ext cx="11541366" cy="2546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0BAC6C-DC5C-48B8-735A-5CB41B23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5981700" cy="17621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Hybrid MAT + DT ridge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B57FAF-E0FE-BDDB-AF58-3F55E7BAF608}"/>
              </a:ext>
            </a:extLst>
          </p:cNvPr>
          <p:cNvSpPr txBox="1">
            <a:spLocks/>
          </p:cNvSpPr>
          <p:nvPr/>
        </p:nvSpPr>
        <p:spPr>
          <a:xfrm>
            <a:off x="1228117" y="6705601"/>
            <a:ext cx="5981700" cy="176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Hasil </a:t>
            </a:r>
            <a:r>
              <a:rPr lang="en-US" sz="2800" dirty="0" err="1"/>
              <a:t>Prunning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762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FEF1-5AB2-DF77-A762-EE77CFDF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C29-85F2-E33E-0913-B6B6D29B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kerjanya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172F-E926-6BB3-BB93-82D5724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Medial axis </a:t>
            </a:r>
            <a:r>
              <a:rPr lang="en-US" dirty="0" err="1"/>
              <a:t>diambil</a:t>
            </a:r>
            <a:r>
              <a:rPr lang="en-US" dirty="0"/>
              <a:t> garis </a:t>
            </a:r>
            <a:r>
              <a:rPr lang="en-US" dirty="0" err="1"/>
              <a:t>tengahnya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distance transform </a:t>
            </a:r>
            <a:r>
              <a:rPr lang="en-US" dirty="0" err="1"/>
              <a:t>ke</a:t>
            </a:r>
            <a:r>
              <a:rPr lang="en-US" dirty="0"/>
              <a:t> garis </a:t>
            </a:r>
            <a:r>
              <a:rPr lang="en-US" dirty="0" err="1"/>
              <a:t>tepinya</a:t>
            </a:r>
            <a:endParaRPr lang="en-US" dirty="0"/>
          </a:p>
          <a:p>
            <a:r>
              <a:rPr lang="en-US" dirty="0"/>
              <a:t>distance transform </a:t>
            </a:r>
            <a:r>
              <a:rPr lang="en-US" dirty="0" err="1"/>
              <a:t>diambil</a:t>
            </a:r>
            <a:r>
              <a:rPr lang="en-US" dirty="0"/>
              <a:t> local maxima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terjauh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boundary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hurufnya</a:t>
            </a:r>
            <a:endParaRPr lang="en-US" dirty="0"/>
          </a:p>
          <a:p>
            <a:r>
              <a:rPr lang="en-US" dirty="0"/>
              <a:t>Dari garis Tengah medial axis dan distance transform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mengunci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medial axis dan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dan </a:t>
            </a:r>
            <a:r>
              <a:rPr lang="en-US" dirty="0" err="1"/>
              <a:t>dilakukan</a:t>
            </a:r>
            <a:r>
              <a:rPr lang="en-US" dirty="0"/>
              <a:t> thinning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pruning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garis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9116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5062-E650-0E30-FDF3-B18683F9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9BB2-1375-C65E-6172-9FACBE2B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A6ED-D5D8-197D-3B50-5F136E9A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08CE5-B18D-B523-C412-D202A5D7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095500"/>
            <a:ext cx="12357149" cy="24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0EF93-0D3A-B110-9E01-E1B1DA90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257" y="4682813"/>
            <a:ext cx="12794648" cy="282288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C4EDB8-6BA4-6FDB-539F-551E101760A0}"/>
              </a:ext>
            </a:extLst>
          </p:cNvPr>
          <p:cNvSpPr/>
          <p:nvPr/>
        </p:nvSpPr>
        <p:spPr>
          <a:xfrm rot="16200000">
            <a:off x="4352406" y="751760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632EDCF-C3CF-DC87-5173-A2E9552D12C0}"/>
              </a:ext>
            </a:extLst>
          </p:cNvPr>
          <p:cNvSpPr/>
          <p:nvPr/>
        </p:nvSpPr>
        <p:spPr>
          <a:xfrm rot="16200000">
            <a:off x="9715500" y="735687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3991F8D-66B2-F30D-472E-E0DE4A695398}"/>
              </a:ext>
            </a:extLst>
          </p:cNvPr>
          <p:cNvSpPr/>
          <p:nvPr/>
        </p:nvSpPr>
        <p:spPr>
          <a:xfrm rot="16200000">
            <a:off x="12709814" y="7755136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8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2F3-A286-FBEA-99BC-EB2C3F1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EF03-8E94-3EC4-5332-08CACF05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53F0-DE8C-ABBE-CB72-3EC0DAFA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2C25A-9415-6EF8-7E63-0DE0C513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59459"/>
            <a:ext cx="11957809" cy="2638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F8718-7AA2-27EF-3009-79EB3AC5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6" y="5197714"/>
            <a:ext cx="11714283" cy="254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AFE2A-1CC5-9ED6-A16F-2B93809E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7744089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C7FF9-28D9-54E2-291B-037515912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53693"/>
            <a:ext cx="11576809" cy="250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5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1290-C968-E11F-AF21-99DC06C0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294-0E4F-5687-3373-99298E77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5F37F-8DA3-68DC-410F-6DCE23485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552" y="5620679"/>
            <a:ext cx="13386896" cy="270354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BA5CA3-F6C4-21F7-6B64-B6F3FD863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40" y="210206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00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F62E-3581-E18A-3D64-962320B9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C9B-5AD0-F290-D829-39FE0E2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Hasil </a:t>
            </a:r>
            <a:r>
              <a:rPr lang="en-US" dirty="0" err="1"/>
              <a:t>perhitungan</a:t>
            </a:r>
            <a:r>
              <a:rPr lang="en-US" dirty="0"/>
              <a:t> skeleton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EA84-B166-8367-E669-4A25F297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709" y="3388359"/>
            <a:ext cx="15773400" cy="6527007"/>
          </a:xfrm>
        </p:spPr>
        <p:txBody>
          <a:bodyPr/>
          <a:lstStyle/>
          <a:p>
            <a:r>
              <a:rPr lang="en-US" dirty="0"/>
              <a:t>[Medial Axis] DT(</a:t>
            </a:r>
            <a:r>
              <a:rPr lang="en-US" dirty="0" err="1"/>
              <a:t>skel</a:t>
            </a:r>
            <a:r>
              <a:rPr lang="en-US" dirty="0"/>
              <a:t>-&gt;edge) mean/median/min/max: 1.778025507926941/ 2.0/ 0.0/ 5.393799781799316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[DT Ridge] DT(</a:t>
            </a:r>
            <a:r>
              <a:rPr lang="en-US" dirty="0" err="1"/>
              <a:t>skel</a:t>
            </a:r>
            <a:r>
              <a:rPr lang="en-US" dirty="0"/>
              <a:t>-&gt;edge) mean/median/min/max: 1.9339892864227295/ 2.0/ 1.0/ 5.196899890899658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DF66F-ADFE-0297-E8ED-813B94B7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251548"/>
            <a:ext cx="11265029" cy="2136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78FD7-FB5E-E2D2-67E6-CFEEAFE9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914900"/>
            <a:ext cx="11265030" cy="213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09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4E9F-3259-A1DD-D6A8-AC481FDB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23725"/>
            <a:ext cx="15773400" cy="956432"/>
          </a:xfrm>
        </p:spPr>
        <p:txBody>
          <a:bodyPr>
            <a:normAutofit/>
          </a:bodyPr>
          <a:lstStyle/>
          <a:p>
            <a:r>
              <a:rPr lang="en-US" sz="4800" dirty="0"/>
              <a:t>Threshold adaptive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5929-3B85-8BD1-F57B-308C5C02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[Hybrid (</a:t>
            </a:r>
            <a:r>
              <a:rPr lang="en-US" dirty="0" err="1"/>
              <a:t>MAT+DT+blob</a:t>
            </a:r>
            <a:r>
              <a:rPr lang="en-US" dirty="0"/>
              <a:t>)] DT(</a:t>
            </a:r>
            <a:r>
              <a:rPr lang="en-US" dirty="0" err="1"/>
              <a:t>skel</a:t>
            </a:r>
            <a:r>
              <a:rPr lang="en-US" dirty="0"/>
              <a:t>-&gt;edge) mean/median/min/max: 1.7726329565048218/ 2.0/ 0.0/ 5.393799781799316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38384-B55E-9AC3-08CE-33637AA4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85" y="601627"/>
            <a:ext cx="11265029" cy="2136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A56FF-2741-9869-B0D4-AB530DF0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0305"/>
            <a:ext cx="17461541" cy="13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69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7277-D351-4051-1327-2AF04DE8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blob pada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CD4C-5A23-5A00-2C05-4A990717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99006-C0F9-6174-CF79-62654891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6823"/>
            <a:ext cx="8892323" cy="1795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95FAB-4229-9A67-EF20-0F07CC4DB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8717"/>
            <a:ext cx="8892323" cy="1795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E3836-6B56-D438-70C6-5A6F4AD2A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87" y="2582083"/>
            <a:ext cx="9509987" cy="192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59C58C-3EB9-4334-A3F5-C99C8B24C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69488"/>
            <a:ext cx="8892323" cy="1795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A68217-1750-AF4E-727A-5F2F32D89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0286" y="4625785"/>
            <a:ext cx="9509987" cy="19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69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2F8D-DD88-0FF5-1F4C-426520DD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Penentuan</a:t>
            </a:r>
            <a:r>
              <a:rPr lang="en-US" dirty="0"/>
              <a:t>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281E-6222-5134-11A8-C43258C2B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Blob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, area, circular, axis ratio (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sumbu</a:t>
            </a:r>
            <a:r>
              <a:rPr lang="en-US" dirty="0"/>
              <a:t> x dan y)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kecenderungan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,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dan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baseline,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circular blob.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divalidasi</a:t>
            </a:r>
            <a:r>
              <a:rPr lang="en-US" dirty="0"/>
              <a:t> oleh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distance transform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penentuan</a:t>
            </a:r>
            <a:r>
              <a:rPr lang="en-US" dirty="0"/>
              <a:t> batas minimum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DT, </a:t>
            </a:r>
            <a:r>
              <a:rPr lang="en-US" dirty="0" err="1"/>
              <a:t>pengatur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blob (inti </a:t>
            </a:r>
            <a:r>
              <a:rPr lang="en-US" dirty="0" err="1"/>
              <a:t>gumpalan</a:t>
            </a:r>
            <a:r>
              <a:rPr lang="en-US" dirty="0"/>
              <a:t>/blob), </a:t>
            </a:r>
            <a:r>
              <a:rPr lang="en-US" dirty="0" err="1"/>
              <a:t>ambang</a:t>
            </a:r>
            <a:r>
              <a:rPr lang="en-US" dirty="0"/>
              <a:t> minimum circularity, </a:t>
            </a:r>
            <a:r>
              <a:rPr lang="en-US" dirty="0" err="1"/>
              <a:t>ambang</a:t>
            </a:r>
            <a:r>
              <a:rPr lang="en-US" dirty="0"/>
              <a:t> minimum axis ratio, dan </a:t>
            </a:r>
            <a:r>
              <a:rPr lang="en-US" dirty="0" err="1"/>
              <a:t>luas</a:t>
            </a:r>
            <a:r>
              <a:rPr lang="en-US" dirty="0"/>
              <a:t> minimum area core(</a:t>
            </a:r>
            <a:r>
              <a:rPr lang="en-US" dirty="0" err="1"/>
              <a:t>gumpalan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5836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D718-88D3-1CFA-FCF6-0BBCF9EA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perbaikan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73028-2B54-04C3-B159-301B4B81E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2552700"/>
            <a:ext cx="14518835" cy="29321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6325FF-91D0-F873-E39B-3096EBC85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67690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0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F48D-B8A8-58A4-31DC-54AA6E5B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90612"/>
          </a:xfrm>
        </p:spPr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BBDB-9FDB-CEBF-58C4-69567C5F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Ratio blob </a:t>
            </a:r>
            <a:r>
              <a:rPr lang="en-US" dirty="0" err="1"/>
              <a:t>supaya</a:t>
            </a:r>
            <a:r>
              <a:rPr lang="en-US" dirty="0"/>
              <a:t> blob </a:t>
            </a:r>
            <a:r>
              <a:rPr lang="en-US" dirty="0" err="1"/>
              <a:t>bulat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tikungan</a:t>
            </a:r>
            <a:r>
              <a:rPr lang="en-US" dirty="0"/>
              <a:t>/junction yang </a:t>
            </a:r>
            <a:r>
              <a:rPr lang="en-US" dirty="0" err="1"/>
              <a:t>terlihat</a:t>
            </a:r>
            <a:r>
              <a:rPr lang="en-US" dirty="0"/>
              <a:t> “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”.</a:t>
            </a:r>
          </a:p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yang </a:t>
            </a:r>
            <a:r>
              <a:rPr lang="en-US" dirty="0" err="1"/>
              <a:t>mengisi</a:t>
            </a:r>
            <a:r>
              <a:rPr lang="en-US" dirty="0"/>
              <a:t> blob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area </a:t>
            </a:r>
            <a:r>
              <a:rPr lang="en-US" dirty="0" err="1"/>
              <a:t>kontur</a:t>
            </a:r>
            <a:r>
              <a:rPr lang="en-US" dirty="0"/>
              <a:t>,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blob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kuas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DT, dan </a:t>
            </a:r>
            <a:r>
              <a:rPr lang="en-US" dirty="0" err="1"/>
              <a:t>perbandingan</a:t>
            </a:r>
            <a:r>
              <a:rPr lang="en-US" dirty="0"/>
              <a:t> Panjang maximum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</a:t>
            </a:r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dipastikan</a:t>
            </a:r>
            <a:r>
              <a:rPr lang="en-US" dirty="0"/>
              <a:t> blob, skeleton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dipaksa</a:t>
            </a:r>
            <a:r>
              <a:rPr lang="en-US" dirty="0"/>
              <a:t> </a:t>
            </a:r>
            <a:r>
              <a:rPr lang="en-US" dirty="0" err="1"/>
              <a:t>terbentuk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9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CCDD-7B1A-9AFC-1697-1AF058C7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skript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B30F-01C1-DB14-4B2A-983667D4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37831-87CB-1FFF-BF4B-16C62D50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1" y="2536033"/>
            <a:ext cx="17888925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13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4919-E82C-36A6-D7CE-0B400241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30C3D-01FC-3EE0-4DF4-012D79244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Penambahan</a:t>
            </a:r>
            <a:r>
              <a:rPr lang="en-US" dirty="0"/>
              <a:t> sig curve </a:t>
            </a:r>
            <a:r>
              <a:rPr lang="en-US" dirty="0" err="1"/>
              <a:t>berdasarkan</a:t>
            </a:r>
            <a:r>
              <a:rPr lang="en-US" dirty="0"/>
              <a:t> skeleton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0DBFD-BE3D-6889-6081-C9CC15DE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0"/>
            <a:ext cx="3884791" cy="1028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B07F8-8944-218C-7BCE-12009CE06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14" y="3390900"/>
            <a:ext cx="3509554" cy="3199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AF5F1B-E42B-8F6A-030A-E375BA3F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248" y="3372492"/>
            <a:ext cx="3817212" cy="37291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57BC8-CD9A-2FB6-D989-F9ADB09B4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456" y="6896643"/>
            <a:ext cx="3864333" cy="30028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066F2E-696F-1A2B-C856-A6BD0F0E5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0917" y="7110737"/>
            <a:ext cx="3509554" cy="26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3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A6CB-3151-2205-254F-21C2D399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9F5B3-AFE8-09C1-D7B9-C71FC6D1E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90500"/>
            <a:ext cx="14782800" cy="9899049"/>
          </a:xfrm>
        </p:spPr>
      </p:pic>
    </p:spTree>
    <p:extLst>
      <p:ext uri="{BB962C8B-B14F-4D97-AF65-F5344CB8AC3E}">
        <p14:creationId xmlns:p14="http://schemas.microsoft.com/office/powerpoint/2010/main" val="3060086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81EA-BA81-D09E-E392-EEAF6172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F233-AC78-1446-F210-6FB1F1B8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4507059"/>
            <a:ext cx="15773400" cy="6527007"/>
          </a:xfrm>
        </p:spPr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skeleton </a:t>
            </a:r>
            <a:r>
              <a:rPr lang="en-US" dirty="0" err="1"/>
              <a:t>zhang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pembentukan</a:t>
            </a:r>
            <a:r>
              <a:rPr lang="en-US" dirty="0"/>
              <a:t> circular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erosi</a:t>
            </a:r>
            <a:r>
              <a:rPr lang="en-US" dirty="0"/>
              <a:t> 1px</a:t>
            </a:r>
          </a:p>
          <a:p>
            <a:endParaRPr lang="en-US" dirty="0"/>
          </a:p>
          <a:p>
            <a:r>
              <a:rPr lang="en-US" dirty="0"/>
              <a:t>Dan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 area </a:t>
            </a:r>
            <a:r>
              <a:rPr lang="en-US" dirty="0" err="1"/>
              <a:t>dalam</a:t>
            </a:r>
            <a:r>
              <a:rPr lang="en-US" dirty="0"/>
              <a:t> circular </a:t>
            </a:r>
            <a:r>
              <a:rPr lang="en-US" dirty="0" err="1"/>
              <a:t>dengan</a:t>
            </a:r>
            <a:r>
              <a:rPr lang="en-US" dirty="0"/>
              <a:t> mask interior blob </a:t>
            </a:r>
            <a:r>
              <a:rPr lang="en-US" dirty="0" err="1"/>
              <a:t>menjadi</a:t>
            </a:r>
            <a:r>
              <a:rPr lang="en-US" dirty="0"/>
              <a:t> 0.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EF013-C29D-A3BB-37F1-50B2658F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38" y="856060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02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8C02-7F08-A2A1-336C-4D395459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inner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BC53-A016-579D-5544-D79D2B296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Mencari</a:t>
            </a:r>
            <a:r>
              <a:rPr lang="en-US" dirty="0"/>
              <a:t> inner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DT,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inner </a:t>
            </a:r>
            <a:r>
              <a:rPr lang="en-US" dirty="0" err="1"/>
              <a:t>dihapus</a:t>
            </a:r>
            <a:r>
              <a:rPr lang="en-US" dirty="0"/>
              <a:t> dan </a:t>
            </a:r>
            <a:r>
              <a:rPr lang="en-US" dirty="0" err="1"/>
              <a:t>menyisahkan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outer </a:t>
            </a:r>
            <a:r>
              <a:rPr lang="en-US" dirty="0" err="1"/>
              <a:t>saja</a:t>
            </a:r>
            <a:endParaRPr lang="en-US" dirty="0"/>
          </a:p>
          <a:p>
            <a:r>
              <a:rPr lang="en-US" dirty="0" err="1"/>
              <a:t>Membuad</a:t>
            </a:r>
            <a:r>
              <a:rPr lang="en-US" dirty="0"/>
              <a:t> filled mask </a:t>
            </a:r>
            <a:r>
              <a:rPr lang="en-US" dirty="0" err="1"/>
              <a:t>dari</a:t>
            </a:r>
            <a:r>
              <a:rPr lang="en-US" dirty="0"/>
              <a:t> blob,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ring masking sari </a:t>
            </a:r>
            <a:r>
              <a:rPr lang="en-US" dirty="0" err="1"/>
              <a:t>kontur</a:t>
            </a:r>
            <a:r>
              <a:rPr lang="en-US" dirty="0"/>
              <a:t> dan </a:t>
            </a:r>
            <a:r>
              <a:rPr lang="en-US" dirty="0" err="1"/>
              <a:t>menghapus</a:t>
            </a:r>
            <a:r>
              <a:rPr lang="en-US" dirty="0"/>
              <a:t> inner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kontur</a:t>
            </a:r>
            <a:endParaRPr lang="en-US" dirty="0"/>
          </a:p>
          <a:p>
            <a:r>
              <a:rPr lang="en-US" dirty="0" err="1"/>
              <a:t>Menghapus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zhang</a:t>
            </a:r>
            <a:r>
              <a:rPr lang="en-US" dirty="0"/>
              <a:t>, dan skeleton dt ridge </a:t>
            </a:r>
            <a:r>
              <a:rPr lang="en-US" dirty="0" err="1"/>
              <a:t>dengan</a:t>
            </a:r>
            <a:r>
              <a:rPr lang="en-US" dirty="0"/>
              <a:t> masking 0</a:t>
            </a:r>
          </a:p>
          <a:p>
            <a:r>
              <a:rPr lang="en-US" dirty="0" err="1"/>
              <a:t>Mencari</a:t>
            </a:r>
            <a:r>
              <a:rPr lang="en-US" dirty="0"/>
              <a:t> loop </a:t>
            </a:r>
            <a:r>
              <a:rPr lang="en-US" dirty="0" err="1"/>
              <a:t>tertutup</a:t>
            </a:r>
            <a:r>
              <a:rPr lang="en-US" dirty="0"/>
              <a:t> pada skeleton, dan </a:t>
            </a:r>
            <a:r>
              <a:rPr lang="en-US" dirty="0" err="1"/>
              <a:t>menghapus</a:t>
            </a:r>
            <a:r>
              <a:rPr lang="en-US" dirty="0"/>
              <a:t> garis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pada inner loop dan </a:t>
            </a:r>
            <a:r>
              <a:rPr lang="en-US" dirty="0" err="1"/>
              <a:t>mempertahankan</a:t>
            </a:r>
            <a:r>
              <a:rPr lang="en-US" dirty="0"/>
              <a:t> garis </a:t>
            </a:r>
            <a:r>
              <a:rPr lang="en-US" dirty="0" err="1"/>
              <a:t>luar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044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329A-D726-B1D8-E597-78DADE1A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hasil</a:t>
            </a:r>
            <a:r>
              <a:rPr lang="en-US" dirty="0"/>
              <a:t> pixel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C6772D-F0A2-567C-3435-56A2E987B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745620"/>
              </p:ext>
            </p:extLst>
          </p:nvPr>
        </p:nvGraphicFramePr>
        <p:xfrm>
          <a:off x="838200" y="2511788"/>
          <a:ext cx="4495800" cy="4323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88069363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00421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335905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84294520"/>
                    </a:ext>
                  </a:extLst>
                </a:gridCol>
              </a:tblGrid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(59,132)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6.324555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321553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(58,131)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6.324555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4183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6.082763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314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(59,130)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899196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5.830952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8762668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Pixel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5.830952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4431479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(61,134)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7796130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194145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(59,129)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=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5.656854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0379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9459B8C-8916-6B89-7046-958880CA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234979"/>
            <a:ext cx="11518927" cy="48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13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8F5-9BDD-F2AF-6C33-9200081D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8C3E-949B-BEEE-E431-45AA0F465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3116C50-3B72-971A-9EE6-868AD931F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82" y="1069961"/>
            <a:ext cx="14518835" cy="2932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C8996-E668-5791-C9DB-16D9EE10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37" y="4204509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41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923E-C751-E883-9CD3-E341A32F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threshold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398B-B9A7-EF74-D7AD-7E59E9579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N_DIAC = </a:t>
                </a:r>
                <a:r>
                  <a:rPr lang="en-US" dirty="0" err="1"/>
                  <a:t>math.pi</a:t>
                </a:r>
                <a:r>
                  <a:rPr lang="en-US" dirty="0"/>
                  <a:t> / 4.0</a:t>
                </a:r>
                <a:br>
                  <a:rPr lang="en-US" dirty="0"/>
                </a:br>
                <a:r>
                  <a:rPr lang="en-US" dirty="0"/>
                  <a:t>N_BLOB = 3.0 * </a:t>
                </a:r>
                <a:r>
                  <a:rPr lang="en-US" dirty="0" err="1"/>
                  <a:t>math.pi</a:t>
                </a:r>
                <a:br>
                  <a:rPr lang="en-US" dirty="0"/>
                </a:br>
                <a:r>
                  <a:rPr lang="en-US" dirty="0"/>
                  <a:t>N_MAX = 20.0 * </a:t>
                </a:r>
                <a:r>
                  <a:rPr lang="en-US" dirty="0" err="1"/>
                  <a:t>math.pi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𝑇h𝑟𝑒𝑠h𝑜𝑙𝑑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N_DIAC </a:t>
                </a:r>
                <a:r>
                  <a:rPr lang="en-US" dirty="0" err="1"/>
                  <a:t>dipakai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batas </a:t>
                </a:r>
                <a:r>
                  <a:rPr lang="en-US" dirty="0" err="1"/>
                  <a:t>diakritik</a:t>
                </a:r>
                <a:r>
                  <a:rPr lang="en-US" dirty="0"/>
                  <a:t>, N_MAX </a:t>
                </a:r>
                <a:r>
                  <a:rPr lang="en-US" dirty="0" err="1"/>
                  <a:t>dipakai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batas circular blob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398B-B9A7-EF74-D7AD-7E59E9579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92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B5B7-DD61-3DB1-FE79-6BD3F7A3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/alas an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rumus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094C7-0D9F-0B2C-4D2C-90AF77064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4400" dirty="0"/>
                  <a:t>Luas area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dipilih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sebagai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objek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pembandingan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parameter </a:t>
                </a:r>
                <a:r>
                  <a:rPr lang="en-US" sz="4400" dirty="0" err="1"/>
                  <a:t>ini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merepresentasikan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ukuran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spasial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secara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langsung</a:t>
                </a:r>
                <a:r>
                  <a:rPr lang="en-US" sz="4400" dirty="0"/>
                  <a:t>. </a:t>
                </a:r>
                <a:r>
                  <a:rPr lang="en-US" sz="4400" dirty="0" err="1"/>
                  <a:t>Namun</a:t>
                </a:r>
                <a:r>
                  <a:rPr lang="en-US" sz="4400" dirty="0"/>
                  <a:t>, pada tulisan </a:t>
                </a:r>
                <a:r>
                  <a:rPr lang="en-US" sz="4400" dirty="0" err="1"/>
                  <a:t>Pegon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 </a:t>
                </a:r>
                <a:r>
                  <a:rPr lang="en-US" sz="4400" dirty="0" err="1"/>
                  <a:t>cenderung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bervariasi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akibat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perbedaan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goresan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tinta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bentuk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huruf</a:t>
                </a:r>
                <a:r>
                  <a:rPr lang="en-US" sz="4400" dirty="0"/>
                  <a:t>, dan proses </a:t>
                </a:r>
                <a:r>
                  <a:rPr lang="en-US" sz="4400" dirty="0" err="1"/>
                  <a:t>akuisisi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citra</a:t>
                </a:r>
                <a:r>
                  <a:rPr lang="en-US" sz="4400" dirty="0"/>
                  <a:t>. Dalam </a:t>
                </a:r>
                <a:r>
                  <a:rPr lang="en-US" sz="4400" dirty="0" err="1"/>
                  <a:t>kondisi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demikian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penggunaan</a:t>
                </a:r>
                <a:r>
                  <a:rPr lang="en-US" sz="4400" dirty="0"/>
                  <a:t> threshold area </a:t>
                </a:r>
                <a:r>
                  <a:rPr lang="en-US" sz="4400" dirty="0" err="1"/>
                  <a:t>berbasis</a:t>
                </a:r>
                <a:r>
                  <a:rPr lang="en-US" sz="4400" dirty="0"/>
                  <a:t> </a:t>
                </a:r>
                <a:r>
                  <a:rPr lang="en-US" sz="4400" dirty="0" err="1"/>
                  <a:t>nilai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tetap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kurang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memadai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tidak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mampu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mengakomodasi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perubahan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lokal</a:t>
                </a:r>
                <a:r>
                  <a:rPr lang="en-US" sz="4400" dirty="0"/>
                  <a:t>. Oleh </a:t>
                </a:r>
                <a:r>
                  <a:rPr lang="en-US" sz="4400" dirty="0" err="1"/>
                  <a:t>sebab</a:t>
                </a:r>
                <a:r>
                  <a:rPr lang="en-US" sz="4400" dirty="0"/>
                  <a:t> </a:t>
                </a:r>
                <a:r>
                  <a:rPr lang="en-US" sz="4400" dirty="0" err="1"/>
                  <a:t>itu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digunakan</a:t>
                </a:r>
                <a:r>
                  <a:rPr lang="en-US" sz="4400" dirty="0"/>
                  <a:t> threshold </a:t>
                </a:r>
                <a:r>
                  <a:rPr lang="en-US" sz="4400" dirty="0" err="1"/>
                  <a:t>skalabel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berbentuk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4400" dirty="0"/>
                  <a:t>, </a:t>
                </a:r>
                <a:r>
                  <a:rPr lang="en-US" sz="4400" dirty="0" err="1"/>
                  <a:t>dengan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4400" dirty="0" err="1"/>
                  <a:t>merepresentasikan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stroke. </a:t>
                </a:r>
                <a:r>
                  <a:rPr lang="en-US" sz="4400" dirty="0" err="1"/>
                  <a:t>Bentuk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kuadrat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dipilih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area </a:t>
                </a:r>
                <a:r>
                  <a:rPr lang="en-US" sz="4400" dirty="0" err="1"/>
                  <a:t>merupakan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besaran</a:t>
                </a:r>
                <a:r>
                  <a:rPr lang="en-US" sz="4400" dirty="0"/>
                  <a:t> dua </a:t>
                </a:r>
                <a:r>
                  <a:rPr lang="en-US" sz="4400" dirty="0" err="1"/>
                  <a:t>dimensi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sehingga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perubahan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 </a:t>
                </a:r>
                <a:r>
                  <a:rPr lang="en-US" sz="4400" dirty="0" err="1"/>
                  <a:t>akan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memengaruhi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luas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secara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proporsional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terhadap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kuadrat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094C7-0D9F-0B2C-4D2C-90AF77064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3268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719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023D-1EAE-DF09-4B3C-DFB94BB5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0F7-25E4-DBB8-D824-8EFF452CB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Adanya </a:t>
            </a:r>
            <a:r>
              <a:rPr lang="en-US" dirty="0" err="1"/>
              <a:t>N_diac</a:t>
            </a:r>
            <a:r>
              <a:rPr lang="en-US" dirty="0"/>
              <a:t> =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badan </a:t>
            </a:r>
            <a:r>
              <a:rPr lang="en-US" dirty="0" err="1"/>
              <a:t>huruf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rule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menempel</a:t>
            </a:r>
            <a:r>
              <a:rPr lang="en-US" dirty="0"/>
              <a:t> pada </a:t>
            </a:r>
            <a:r>
              <a:rPr lang="en-US" dirty="0" err="1"/>
              <a:t>tubuh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.</a:t>
            </a:r>
          </a:p>
          <a:p>
            <a:r>
              <a:rPr lang="en-US" dirty="0"/>
              <a:t>N_BLOB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natural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blob</a:t>
            </a:r>
          </a:p>
          <a:p>
            <a:r>
              <a:rPr lang="en-US" dirty="0"/>
              <a:t>N_MAX = 20</a:t>
            </a:r>
            <a:r>
              <a:rPr lang="el-GR" dirty="0"/>
              <a:t>π </a:t>
            </a:r>
            <a:r>
              <a:rPr lang="en-US" dirty="0" err="1"/>
              <a:t>setara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disk </a:t>
            </a:r>
            <a:r>
              <a:rPr lang="en-US" dirty="0" err="1"/>
              <a:t>ekuivalen</a:t>
            </a:r>
            <a:r>
              <a:rPr lang="en-US" dirty="0"/>
              <a:t> </a:t>
            </a:r>
            <a:r>
              <a:rPr lang="en-US" dirty="0" err="1"/>
              <a:t>berjari-jari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4.5 kali radius stroke. Jadi batas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longgar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menampung</a:t>
            </a:r>
            <a:r>
              <a:rPr lang="en-US" dirty="0"/>
              <a:t> blob yang </a:t>
            </a:r>
            <a:r>
              <a:rPr lang="en-US" dirty="0" err="1"/>
              <a:t>ukurannya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longgar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badan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terbaca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blob.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99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41F-6E67-3F06-CFAD-145D429B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F93A-CE03-746A-DF25-3A64715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E3C44-9927-3EF9-C733-AD085BBB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1" y="2738438"/>
            <a:ext cx="14820900" cy="634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45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E105-5929-DE84-125A-4E50B5F7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B91C1C"/>
                </a:solidFill>
              </a:rPr>
              <a:t>π/4  → </a:t>
            </a:r>
            <a:r>
              <a:rPr lang="en-US" b="1" dirty="0" err="1">
                <a:solidFill>
                  <a:srgbClr val="B91C1C"/>
                </a:solidFill>
              </a:rPr>
              <a:t>mengapa</a:t>
            </a:r>
            <a:r>
              <a:rPr lang="en-US" b="1" dirty="0">
                <a:solidFill>
                  <a:srgbClr val="B91C1C"/>
                </a:solidFill>
              </a:rPr>
              <a:t> </a:t>
            </a:r>
            <a:r>
              <a:rPr lang="en-US" b="1" dirty="0" err="1">
                <a:solidFill>
                  <a:srgbClr val="B91C1C"/>
                </a:solidFill>
              </a:rPr>
              <a:t>ada</a:t>
            </a:r>
            <a:r>
              <a:rPr lang="en-US" b="1" dirty="0">
                <a:solidFill>
                  <a:srgbClr val="B91C1C"/>
                </a:solidFill>
              </a:rPr>
              <a:t> </a:t>
            </a:r>
            <a:r>
              <a:rPr lang="en-US" b="1" dirty="0" err="1">
                <a:solidFill>
                  <a:srgbClr val="B91C1C"/>
                </a:solidFill>
              </a:rPr>
              <a:t>angka</a:t>
            </a:r>
            <a:r>
              <a:rPr lang="en-US" b="1" dirty="0">
                <a:solidFill>
                  <a:srgbClr val="B91C1C"/>
                </a:solidFill>
              </a:rPr>
              <a:t> 4?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BF9C-F1B8-0FE6-292D-F11B1628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 err="1">
                <a:solidFill>
                  <a:srgbClr val="1F2937"/>
                </a:solidFill>
              </a:rPr>
              <a:t>Secara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geometris</a:t>
            </a:r>
            <a:r>
              <a:rPr lang="en-US" sz="4400" dirty="0">
                <a:solidFill>
                  <a:srgbClr val="1F2937"/>
                </a:solidFill>
              </a:rPr>
              <a:t>, </a:t>
            </a:r>
            <a:r>
              <a:rPr lang="en-US" sz="4400" dirty="0" err="1">
                <a:solidFill>
                  <a:srgbClr val="1F2937"/>
                </a:solidFill>
              </a:rPr>
              <a:t>faktor</a:t>
            </a:r>
            <a:r>
              <a:rPr lang="en-US" sz="4400" dirty="0">
                <a:solidFill>
                  <a:srgbClr val="1F2937"/>
                </a:solidFill>
              </a:rPr>
              <a:t> 1/4 </a:t>
            </a:r>
            <a:r>
              <a:rPr lang="en-US" sz="4400" dirty="0" err="1">
                <a:solidFill>
                  <a:srgbClr val="1F2937"/>
                </a:solidFill>
              </a:rPr>
              <a:t>membuat</a:t>
            </a:r>
            <a:r>
              <a:rPr lang="en-US" sz="4400" dirty="0">
                <a:solidFill>
                  <a:srgbClr val="1F2937"/>
                </a:solidFill>
              </a:rPr>
              <a:t> threshold </a:t>
            </a:r>
            <a:r>
              <a:rPr lang="en-US" sz="4400" dirty="0" err="1">
                <a:solidFill>
                  <a:srgbClr val="1F2937"/>
                </a:solidFill>
              </a:rPr>
              <a:t>diakritik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menjadi</a:t>
            </a:r>
            <a:r>
              <a:rPr lang="en-US" sz="4400" dirty="0">
                <a:solidFill>
                  <a:srgbClr val="1F2937"/>
                </a:solidFill>
              </a:rPr>
              <a:t> sangat </a:t>
            </a:r>
            <a:r>
              <a:rPr lang="en-US" sz="4400" dirty="0" err="1">
                <a:solidFill>
                  <a:srgbClr val="1F2937"/>
                </a:solidFill>
              </a:rPr>
              <a:t>konservatif</a:t>
            </a:r>
            <a:r>
              <a:rPr lang="en-US" sz="4400" dirty="0">
                <a:solidFill>
                  <a:srgbClr val="1F2937"/>
                </a:solidFill>
              </a:rPr>
              <a:t>. Ini </a:t>
            </a:r>
            <a:r>
              <a:rPr lang="en-US" sz="4400" dirty="0" err="1">
                <a:solidFill>
                  <a:srgbClr val="1F2937"/>
                </a:solidFill>
              </a:rPr>
              <a:t>setara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dengan</a:t>
            </a:r>
            <a:r>
              <a:rPr lang="en-US" sz="4400" dirty="0">
                <a:solidFill>
                  <a:srgbClr val="1F2937"/>
                </a:solidFill>
              </a:rPr>
              <a:t> disk </a:t>
            </a:r>
            <a:r>
              <a:rPr lang="en-US" sz="4400" dirty="0" err="1">
                <a:solidFill>
                  <a:srgbClr val="1F2937"/>
                </a:solidFill>
              </a:rPr>
              <a:t>berjari-jari</a:t>
            </a:r>
            <a:r>
              <a:rPr lang="en-US" sz="4400" dirty="0">
                <a:solidFill>
                  <a:srgbClr val="1F2937"/>
                </a:solidFill>
              </a:rPr>
              <a:t> 0.5r, </a:t>
            </a:r>
            <a:r>
              <a:rPr lang="en-US" sz="4400" dirty="0" err="1">
                <a:solidFill>
                  <a:srgbClr val="1F2937"/>
                </a:solidFill>
              </a:rPr>
              <a:t>sehingga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hanya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komponen</a:t>
            </a:r>
            <a:r>
              <a:rPr lang="en-US" sz="4400" dirty="0">
                <a:solidFill>
                  <a:srgbClr val="1F2937"/>
                </a:solidFill>
              </a:rPr>
              <a:t> yang </a:t>
            </a:r>
            <a:r>
              <a:rPr lang="en-US" sz="4400" dirty="0" err="1">
                <a:solidFill>
                  <a:srgbClr val="1F2937"/>
                </a:solidFill>
              </a:rPr>
              <a:t>benar-benar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kecil</a:t>
            </a:r>
            <a:r>
              <a:rPr lang="en-US" sz="4400" dirty="0">
                <a:solidFill>
                  <a:srgbClr val="1F2937"/>
                </a:solidFill>
              </a:rPr>
              <a:t> yang lolos </a:t>
            </a:r>
            <a:r>
              <a:rPr lang="en-US" sz="4400" dirty="0" err="1">
                <a:solidFill>
                  <a:srgbClr val="1F2937"/>
                </a:solidFill>
              </a:rPr>
              <a:t>sebagai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diakritik</a:t>
            </a:r>
            <a:r>
              <a:rPr lang="en-US" sz="4400" dirty="0">
                <a:solidFill>
                  <a:srgbClr val="1F2937"/>
                </a:solidFill>
              </a:rPr>
              <a:t>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48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FB5A-7877-FEAB-8FD7-90F256B1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E8B57"/>
                </a:solidFill>
              </a:rPr>
              <a:t>3π  → </a:t>
            </a:r>
            <a:r>
              <a:rPr lang="en-US" b="1" dirty="0" err="1">
                <a:solidFill>
                  <a:srgbClr val="2E8B57"/>
                </a:solidFill>
              </a:rPr>
              <a:t>mengapa</a:t>
            </a:r>
            <a:r>
              <a:rPr lang="en-US" b="1" dirty="0">
                <a:solidFill>
                  <a:srgbClr val="2E8B57"/>
                </a:solidFill>
              </a:rPr>
              <a:t> </a:t>
            </a:r>
            <a:r>
              <a:rPr lang="en-US" b="1" dirty="0" err="1">
                <a:solidFill>
                  <a:srgbClr val="2E8B57"/>
                </a:solidFill>
              </a:rPr>
              <a:t>ada</a:t>
            </a:r>
            <a:r>
              <a:rPr lang="en-US" b="1" dirty="0">
                <a:solidFill>
                  <a:srgbClr val="2E8B57"/>
                </a:solidFill>
              </a:rPr>
              <a:t> </a:t>
            </a:r>
            <a:r>
              <a:rPr lang="en-US" b="1" dirty="0" err="1">
                <a:solidFill>
                  <a:srgbClr val="2E8B57"/>
                </a:solidFill>
              </a:rPr>
              <a:t>angka</a:t>
            </a:r>
            <a:r>
              <a:rPr lang="en-US" b="1" dirty="0">
                <a:solidFill>
                  <a:srgbClr val="2E8B57"/>
                </a:solidFill>
              </a:rPr>
              <a:t> 3?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8163-9224-9DA0-CA63-99FB4CD5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2937"/>
                </a:solidFill>
              </a:rPr>
              <a:t>Nilai 3π </a:t>
            </a:r>
            <a:r>
              <a:rPr lang="en-US" sz="4400" dirty="0" err="1">
                <a:solidFill>
                  <a:srgbClr val="1F2937"/>
                </a:solidFill>
              </a:rPr>
              <a:t>memberi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skala</a:t>
            </a:r>
            <a:r>
              <a:rPr lang="en-US" sz="4400" dirty="0">
                <a:solidFill>
                  <a:srgbClr val="1F2937"/>
                </a:solidFill>
              </a:rPr>
              <a:t> blob </a:t>
            </a:r>
            <a:r>
              <a:rPr lang="en-US" sz="4400" dirty="0" err="1">
                <a:solidFill>
                  <a:srgbClr val="1F2937"/>
                </a:solidFill>
              </a:rPr>
              <a:t>menengah</a:t>
            </a:r>
            <a:r>
              <a:rPr lang="en-US" sz="4400" dirty="0">
                <a:solidFill>
                  <a:srgbClr val="1F2937"/>
                </a:solidFill>
              </a:rPr>
              <a:t>: </a:t>
            </a:r>
            <a:r>
              <a:rPr lang="en-US" sz="4400" dirty="0" err="1">
                <a:solidFill>
                  <a:srgbClr val="1F2937"/>
                </a:solidFill>
              </a:rPr>
              <a:t>lebih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dari</a:t>
            </a:r>
            <a:r>
              <a:rPr lang="en-US" sz="4400" dirty="0">
                <a:solidFill>
                  <a:srgbClr val="1F2937"/>
                </a:solidFill>
              </a:rPr>
              <a:t> stroke </a:t>
            </a:r>
            <a:r>
              <a:rPr lang="en-US" sz="4400" dirty="0" err="1">
                <a:solidFill>
                  <a:srgbClr val="1F2937"/>
                </a:solidFill>
              </a:rPr>
              <a:t>sederhana</a:t>
            </a:r>
            <a:r>
              <a:rPr lang="en-US" sz="4400" dirty="0">
                <a:solidFill>
                  <a:srgbClr val="1F2937"/>
                </a:solidFill>
              </a:rPr>
              <a:t>, </a:t>
            </a:r>
            <a:r>
              <a:rPr lang="en-US" sz="4400" dirty="0" err="1">
                <a:solidFill>
                  <a:srgbClr val="1F2937"/>
                </a:solidFill>
              </a:rPr>
              <a:t>tetapi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belum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sebesar</a:t>
            </a:r>
            <a:r>
              <a:rPr lang="en-US" sz="4400" dirty="0">
                <a:solidFill>
                  <a:srgbClr val="1F2937"/>
                </a:solidFill>
              </a:rPr>
              <a:t> badan </a:t>
            </a:r>
            <a:r>
              <a:rPr lang="en-US" sz="4400" dirty="0" err="1">
                <a:solidFill>
                  <a:srgbClr val="1F2937"/>
                </a:solidFill>
              </a:rPr>
              <a:t>huruf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utama</a:t>
            </a:r>
            <a:r>
              <a:rPr lang="en-US" sz="4400" dirty="0">
                <a:solidFill>
                  <a:srgbClr val="1F2937"/>
                </a:solidFill>
              </a:rPr>
              <a:t>. </a:t>
            </a:r>
            <a:r>
              <a:rPr lang="en-US" sz="4400" dirty="0" err="1">
                <a:solidFill>
                  <a:srgbClr val="1F2937"/>
                </a:solidFill>
              </a:rPr>
              <a:t>Secara</a:t>
            </a:r>
            <a:r>
              <a:rPr lang="en-US" sz="4400" dirty="0">
                <a:solidFill>
                  <a:srgbClr val="1F2937"/>
                </a:solidFill>
              </a:rPr>
              <a:t> area, radius </a:t>
            </a:r>
            <a:r>
              <a:rPr lang="en-US" sz="4400" dirty="0" err="1">
                <a:solidFill>
                  <a:srgbClr val="1F2937"/>
                </a:solidFill>
              </a:rPr>
              <a:t>ekuivalennya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adalah</a:t>
            </a:r>
            <a:r>
              <a:rPr lang="en-US" sz="4400" dirty="0">
                <a:solidFill>
                  <a:srgbClr val="1F2937"/>
                </a:solidFill>
              </a:rPr>
              <a:t> √3·r ≈ 1.73r.</a:t>
            </a:r>
            <a:endParaRPr lang="en-US" sz="4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81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4E7B-0892-FEF2-E6F8-D18D6EF8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97706"/>
                </a:solidFill>
              </a:rPr>
              <a:t>20π  → </a:t>
            </a:r>
            <a:r>
              <a:rPr lang="en-US" b="1" dirty="0" err="1">
                <a:solidFill>
                  <a:srgbClr val="D97706"/>
                </a:solidFill>
              </a:rPr>
              <a:t>mengapa</a:t>
            </a:r>
            <a:r>
              <a:rPr lang="en-US" b="1" dirty="0">
                <a:solidFill>
                  <a:srgbClr val="D97706"/>
                </a:solidFill>
              </a:rPr>
              <a:t> </a:t>
            </a:r>
            <a:r>
              <a:rPr lang="en-US" b="1" dirty="0" err="1">
                <a:solidFill>
                  <a:srgbClr val="D97706"/>
                </a:solidFill>
              </a:rPr>
              <a:t>ada</a:t>
            </a:r>
            <a:r>
              <a:rPr lang="en-US" b="1" dirty="0">
                <a:solidFill>
                  <a:srgbClr val="D97706"/>
                </a:solidFill>
              </a:rPr>
              <a:t> </a:t>
            </a:r>
            <a:r>
              <a:rPr lang="en-US" b="1" dirty="0" err="1">
                <a:solidFill>
                  <a:srgbClr val="D97706"/>
                </a:solidFill>
              </a:rPr>
              <a:t>angka</a:t>
            </a:r>
            <a:r>
              <a:rPr lang="en-US" b="1" dirty="0">
                <a:solidFill>
                  <a:srgbClr val="D97706"/>
                </a:solidFill>
              </a:rPr>
              <a:t> 20?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58C9-F052-1FA6-5179-9516C8175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2937"/>
                </a:solidFill>
              </a:rPr>
              <a:t>N_MAX </a:t>
            </a:r>
            <a:r>
              <a:rPr lang="en-US" sz="4400" dirty="0" err="1">
                <a:solidFill>
                  <a:srgbClr val="1F2937"/>
                </a:solidFill>
              </a:rPr>
              <a:t>sengaja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agar circular blob </a:t>
            </a:r>
            <a:r>
              <a:rPr lang="en-US" sz="4400" dirty="0" err="1">
                <a:solidFill>
                  <a:srgbClr val="1F2937"/>
                </a:solidFill>
              </a:rPr>
              <a:t>masih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diberi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ruang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toleransi</a:t>
            </a:r>
            <a:r>
              <a:rPr lang="en-US" sz="4400" dirty="0">
                <a:solidFill>
                  <a:srgbClr val="1F2937"/>
                </a:solidFill>
              </a:rPr>
              <a:t>. </a:t>
            </a:r>
            <a:r>
              <a:rPr lang="en-US" sz="4400" dirty="0" err="1">
                <a:solidFill>
                  <a:srgbClr val="1F2937"/>
                </a:solidFill>
              </a:rPr>
              <a:t>Namun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ketika</a:t>
            </a:r>
            <a:r>
              <a:rPr lang="en-US" sz="4400" dirty="0">
                <a:solidFill>
                  <a:srgbClr val="1F2937"/>
                </a:solidFill>
              </a:rPr>
              <a:t> area </a:t>
            </a:r>
            <a:r>
              <a:rPr lang="en-US" sz="4400" dirty="0" err="1">
                <a:solidFill>
                  <a:srgbClr val="1F2937"/>
                </a:solidFill>
              </a:rPr>
              <a:t>melewati</a:t>
            </a:r>
            <a:r>
              <a:rPr lang="en-US" sz="4400" dirty="0">
                <a:solidFill>
                  <a:srgbClr val="1F2937"/>
                </a:solidFill>
              </a:rPr>
              <a:t> 20πr², </a:t>
            </a:r>
            <a:r>
              <a:rPr lang="en-US" sz="4400" dirty="0" err="1">
                <a:solidFill>
                  <a:srgbClr val="1F2937"/>
                </a:solidFill>
              </a:rPr>
              <a:t>komponen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sudah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terlalu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untuk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dianggap</a:t>
            </a:r>
            <a:r>
              <a:rPr lang="en-US" sz="4400" dirty="0">
                <a:solidFill>
                  <a:srgbClr val="1F2937"/>
                </a:solidFill>
              </a:rPr>
              <a:t> blob </a:t>
            </a:r>
            <a:r>
              <a:rPr lang="en-US" sz="4400" dirty="0" err="1">
                <a:solidFill>
                  <a:srgbClr val="1F2937"/>
                </a:solidFill>
              </a:rPr>
              <a:t>kecil</a:t>
            </a:r>
            <a:r>
              <a:rPr lang="en-US" sz="4400" dirty="0">
                <a:solidFill>
                  <a:srgbClr val="1F2937"/>
                </a:solidFill>
              </a:rPr>
              <a:t> dan </a:t>
            </a:r>
            <a:r>
              <a:rPr lang="en-US" sz="4400" dirty="0" err="1">
                <a:solidFill>
                  <a:srgbClr val="1F2937"/>
                </a:solidFill>
              </a:rPr>
              <a:t>lebih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masuk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akal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diperlakukan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sebagai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huruf</a:t>
            </a:r>
            <a:r>
              <a:rPr lang="en-US" sz="4400" dirty="0">
                <a:solidFill>
                  <a:srgbClr val="1F2937"/>
                </a:solidFill>
              </a:rPr>
              <a:t> normal.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12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1FF6-231B-F649-AE62-970A2C4C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E80F-6010-AEE7-9480-A44CD9421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5C2F-B8E7-1DC3-75AC-FFFCAA30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29100"/>
            <a:ext cx="1600199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42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2B7C-2543-F6B7-1437-C43710E9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453E2-BCDC-440E-208D-36376639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E5F8A-7AA2-CD57-123F-3626CD5D4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738438"/>
            <a:ext cx="14450556" cy="412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296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1201-7042-6D7C-7AD9-D7FD960A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598FB-479A-9576-4B4D-C29869ABA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59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0410-D6AA-35A7-7CC5-AE7F2A81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EECF-FFC2-F5DA-A07D-AE81D967C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57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EE3E-F7C9-6421-A094-BB491362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9CA2-3432-3E1D-0A21-989669BC1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604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194C-814B-D5E7-B5AA-C252E265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CA89-146D-F16B-BFAA-E31E50F6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82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546E-77B8-1F0C-98AB-35D1219B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7F94-44FC-E124-3B7A-E2E443F5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365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201B-D373-D346-12E8-F0552BE7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2ACA-C404-C6EA-0CAF-28B855E4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26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AD3B-3B23-3424-8C1D-4457D914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068F-B23A-34EE-E78B-0E51ED6F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ablasi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kayak threshold </a:t>
            </a:r>
            <a:r>
              <a:rPr lang="en-US" dirty="0" err="1"/>
              <a:t>tetap</a:t>
            </a:r>
            <a:r>
              <a:rPr lang="en-US" dirty="0"/>
              <a:t> dan </a:t>
            </a:r>
            <a:r>
              <a:rPr lang="en-US" dirty="0" err="1"/>
              <a:t>skelabel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lama dan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usulan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table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skalabel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ketikan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1,2,3,4 </a:t>
            </a:r>
            <a:r>
              <a:rPr lang="en-US" dirty="0" err="1"/>
              <a:t>dst</a:t>
            </a:r>
            <a:r>
              <a:rPr lang="en-US" dirty="0"/>
              <a:t>,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akurasinya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? Gitu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N-max, </a:t>
            </a:r>
            <a:r>
              <a:rPr lang="en-US" dirty="0" err="1"/>
              <a:t>n_blob</a:t>
            </a:r>
            <a:r>
              <a:rPr lang="en-US" dirty="0"/>
              <a:t> dan </a:t>
            </a:r>
            <a:r>
              <a:rPr lang="en-US" dirty="0" err="1"/>
              <a:t>n_diac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dll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dan </a:t>
            </a:r>
            <a:r>
              <a:rPr lang="en-US" dirty="0" err="1"/>
              <a:t>sesudah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/>
              <a:t> circularity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369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3BEF-F6D6-8D2B-8677-E7D0E2B4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782D-AF89-7C4E-EE26-C8E18749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33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963-9444-60BB-4093-D413B78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9505-E829-749A-3CD7-7734FD9A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185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4206-2959-425E-E945-D555EFA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8464-955E-178B-A3A7-CAA6F24C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019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8275-D056-ECDA-0A12-EE924BF2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"/>
            <a:ext cx="15773400" cy="6527007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Coba 3 </a:t>
            </a:r>
            <a:r>
              <a:rPr lang="en-US" dirty="0" err="1"/>
              <a:t>algoritma</a:t>
            </a:r>
            <a:r>
              <a:rPr lang="en-US" dirty="0"/>
              <a:t> skeleton</a:t>
            </a:r>
          </a:p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enhancement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clahe</a:t>
            </a:r>
            <a:r>
              <a:rPr lang="en-US" dirty="0"/>
              <a:t>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kayak library </a:t>
            </a:r>
            <a:r>
              <a:rPr lang="en-US" dirty="0" err="1"/>
              <a:t>skimage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pemanggilan</a:t>
            </a:r>
            <a:r>
              <a:rPr lang="en-US" dirty="0"/>
              <a:t> skeleton “skeletonize” di </a:t>
            </a:r>
            <a:r>
              <a:rPr lang="en-US" dirty="0" err="1"/>
              <a:t>cari</a:t>
            </a:r>
            <a:r>
              <a:rPr lang="en-US" dirty="0"/>
              <a:t> library di google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skimage</a:t>
            </a:r>
            <a:r>
              <a:rPr lang="en-US" dirty="0"/>
              <a:t>, </a:t>
            </a:r>
            <a:r>
              <a:rPr lang="en-US" dirty="0" err="1"/>
              <a:t>zhang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lee (</a:t>
            </a:r>
            <a:r>
              <a:rPr lang="en-US" dirty="0">
                <a:hlinkClick r:id="rId3"/>
              </a:rPr>
              <a:t>https://scikit-image.org/docs/stable/api/skimage.morphology.html#skimage.morphology.skeletonize</a:t>
            </a:r>
            <a:r>
              <a:rPr lang="en-US" dirty="0"/>
              <a:t> ) dan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(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pada </a:t>
            </a:r>
            <a:r>
              <a:rPr lang="en-US" dirty="0" err="1"/>
              <a:t>screenshoot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Ketika </a:t>
            </a:r>
            <a:r>
              <a:rPr lang="en-US" dirty="0" err="1"/>
              <a:t>mencari</a:t>
            </a:r>
            <a:r>
              <a:rPr lang="en-US" dirty="0"/>
              <a:t> library dan </a:t>
            </a:r>
            <a:r>
              <a:rPr lang="en-US" dirty="0" err="1"/>
              <a:t>pemanggilan</a:t>
            </a:r>
            <a:r>
              <a:rPr lang="en-US" dirty="0"/>
              <a:t> </a:t>
            </a:r>
            <a:r>
              <a:rPr lang="en-US" dirty="0" err="1"/>
              <a:t>websitenya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).</a:t>
            </a:r>
          </a:p>
          <a:p>
            <a:r>
              <a:rPr lang="en-US" dirty="0"/>
              <a:t>Ketika </a:t>
            </a:r>
            <a:r>
              <a:rPr lang="en-US" dirty="0" err="1"/>
              <a:t>mengerjakan</a:t>
            </a:r>
            <a:r>
              <a:rPr lang="en-US" dirty="0"/>
              <a:t> juga </a:t>
            </a:r>
            <a:r>
              <a:rPr lang="en-US" dirty="0" err="1"/>
              <a:t>pararel</a:t>
            </a:r>
            <a:r>
              <a:rPr lang="en-US" dirty="0"/>
              <a:t> Ketika skeleton ga </a:t>
            </a:r>
            <a:r>
              <a:rPr lang="en-US" dirty="0" err="1"/>
              <a:t>nemu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ngerjakan</a:t>
            </a:r>
            <a:r>
              <a:rPr lang="en-US" dirty="0"/>
              <a:t> junction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n in range(</a:t>
            </a:r>
            <a:r>
              <a:rPr lang="en-US" dirty="0" err="1"/>
              <a:t>len</a:t>
            </a:r>
            <a:r>
              <a:rPr lang="en-US" dirty="0"/>
              <a:t>(components)):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k_sk</a:t>
            </a:r>
            <a:r>
              <a:rPr lang="en-US" dirty="0"/>
              <a:t> = </a:t>
            </a:r>
            <a:r>
              <a:rPr lang="en-US" dirty="0" err="1"/>
              <a:t>cv.getStructuringElement</a:t>
            </a:r>
            <a:r>
              <a:rPr lang="en-US" dirty="0"/>
              <a:t>(</a:t>
            </a:r>
            <a:r>
              <a:rPr lang="en-US" dirty="0" err="1"/>
              <a:t>cv.MORPH_ELLIPSE</a:t>
            </a:r>
            <a:r>
              <a:rPr lang="en-US" dirty="0"/>
              <a:t>, (3, 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 = ((components[n].mat == RASMVAL).</a:t>
            </a:r>
            <a:r>
              <a:rPr lang="en-US" dirty="0" err="1"/>
              <a:t>astype</a:t>
            </a:r>
            <a:r>
              <a:rPr lang="en-US" dirty="0"/>
              <a:t>(np.uint8) * 255)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holes = </a:t>
            </a:r>
            <a:r>
              <a:rPr lang="en-US" dirty="0" err="1"/>
              <a:t>get_holes_mask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)  # </a:t>
            </a:r>
            <a:r>
              <a:rPr lang="en-US" dirty="0" err="1"/>
              <a:t>simpan</a:t>
            </a:r>
            <a:r>
              <a:rPr lang="en-US" dirty="0"/>
              <a:t> hole per </a:t>
            </a:r>
            <a:r>
              <a:rPr lang="en-US" dirty="0" err="1"/>
              <a:t>komponen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#binary_mat = </a:t>
            </a:r>
            <a:r>
              <a:rPr lang="en-US" dirty="0" err="1"/>
              <a:t>cv.morphologyEx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, </a:t>
            </a:r>
            <a:r>
              <a:rPr lang="en-US" dirty="0" err="1"/>
              <a:t>cv.MORPH_CLOSE</a:t>
            </a:r>
            <a:r>
              <a:rPr lang="en-US" dirty="0"/>
              <a:t>, </a:t>
            </a:r>
            <a:r>
              <a:rPr lang="en-US" dirty="0" err="1"/>
              <a:t>k_sk</a:t>
            </a:r>
            <a:r>
              <a:rPr lang="en-US" dirty="0"/>
              <a:t>, iterations=1)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[holes == 255] = 0        # </a:t>
            </a:r>
            <a:r>
              <a:rPr lang="en-US" dirty="0" err="1"/>
              <a:t>balikin</a:t>
            </a:r>
            <a:r>
              <a:rPr lang="en-US" dirty="0"/>
              <a:t> hole </a:t>
            </a:r>
            <a:r>
              <a:rPr lang="en-US" dirty="0" err="1"/>
              <a:t>lagi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skeleton = skeletonize(</a:t>
            </a:r>
            <a:r>
              <a:rPr lang="en-US" dirty="0" err="1"/>
              <a:t>binary_mat</a:t>
            </a:r>
            <a:r>
              <a:rPr lang="en-US" dirty="0"/>
              <a:t> &gt; 0).</a:t>
            </a:r>
            <a:r>
              <a:rPr lang="en-US" dirty="0" err="1"/>
              <a:t>astype</a:t>
            </a:r>
            <a:r>
              <a:rPr lang="en-US" dirty="0"/>
              <a:t>(np.uint8)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skeleton_components.append</a:t>
            </a:r>
            <a:r>
              <a:rPr lang="en-US" dirty="0"/>
              <a:t>(skeleton)</a:t>
            </a:r>
          </a:p>
          <a:p>
            <a:pPr marL="0" indent="0">
              <a:buNone/>
            </a:pPr>
            <a:r>
              <a:rPr lang="en-US" dirty="0"/>
              <a:t>UNTUK SKRIPT INI YANG DIUBAH UBAH TERKAIT SKELETONYA. DARI PAK LUKMAN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F6F4-B762-E72B-CE13-CEADB6FF0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781300"/>
            <a:ext cx="10827267" cy="56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4828</TotalTime>
  <Words>1745</Words>
  <Application>Microsoft Office PowerPoint</Application>
  <PresentationFormat>Custom</PresentationFormat>
  <Paragraphs>168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Montserrat Bold</vt:lpstr>
      <vt:lpstr>Calibri Light</vt:lpstr>
      <vt:lpstr>Cambria Math</vt:lpstr>
      <vt:lpstr>Montnapha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Masukan</vt:lpstr>
      <vt:lpstr>PowerPoint Presentation</vt:lpstr>
      <vt:lpstr>PowerPoint Presentation</vt:lpstr>
      <vt:lpstr>Perubahan </vt:lpstr>
      <vt:lpstr>skeleton medialaxis</vt:lpstr>
      <vt:lpstr>PowerPoint Presentation</vt:lpstr>
      <vt:lpstr>Pemotongan persimpangan</vt:lpstr>
      <vt:lpstr>Pemotongan junction</vt:lpstr>
      <vt:lpstr>junction</vt:lpstr>
      <vt:lpstr>rules</vt:lpstr>
      <vt:lpstr>PowerPoint Presentation</vt:lpstr>
      <vt:lpstr>PowerPoint Presentation</vt:lpstr>
      <vt:lpstr>Cara kerja voronoi</vt:lpstr>
      <vt:lpstr>Hybrid MAT + DT ridge</vt:lpstr>
      <vt:lpstr>Cara kerjanya</vt:lpstr>
      <vt:lpstr>PowerPoint Presentation</vt:lpstr>
      <vt:lpstr>PowerPoint Presentation</vt:lpstr>
      <vt:lpstr>Penambahan circularity</vt:lpstr>
      <vt:lpstr>Hasil perhitungan skeleton ke tepi terdekat</vt:lpstr>
      <vt:lpstr>Threshold adaptive</vt:lpstr>
      <vt:lpstr>Percobaan menghilangkan blob pada stroke</vt:lpstr>
      <vt:lpstr>Penentuan Blob</vt:lpstr>
      <vt:lpstr>Hasil perbaikan circularity</vt:lpstr>
      <vt:lpstr>Perubahan apa saja ?</vt:lpstr>
      <vt:lpstr>Percobaan skript</vt:lpstr>
      <vt:lpstr>Sig curve</vt:lpstr>
      <vt:lpstr>PowerPoint Presentation</vt:lpstr>
      <vt:lpstr>PowerPoint Presentation</vt:lpstr>
      <vt:lpstr>Tahapan menghapus inner blob</vt:lpstr>
      <vt:lpstr>Sample hasil pixel</vt:lpstr>
      <vt:lpstr>PowerPoint Presentation</vt:lpstr>
      <vt:lpstr>Perubahan menghitung threshold area</vt:lpstr>
      <vt:lpstr>Penjelasan/alas an menggunakan rumus</vt:lpstr>
      <vt:lpstr>PowerPoint Presentation</vt:lpstr>
      <vt:lpstr>PowerPoint Presentation</vt:lpstr>
      <vt:lpstr>π/4  → mengapa ada angka 4? </vt:lpstr>
      <vt:lpstr>3π  → mengapa ada angka 3? </vt:lpstr>
      <vt:lpstr>20π  → mengapa ada angka 20?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</dc:creator>
  <cp:lastModifiedBy>adm</cp:lastModifiedBy>
  <cp:revision>76</cp:revision>
  <dcterms:created xsi:type="dcterms:W3CDTF">2006-08-16T00:00:00Z</dcterms:created>
  <dcterms:modified xsi:type="dcterms:W3CDTF">2026-04-14T05:11:45Z</dcterms:modified>
  <dc:identifier>DAG9OBkQrg4</dc:identifier>
</cp:coreProperties>
</file>