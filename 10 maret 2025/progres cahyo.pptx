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14" r:id="rId1"/>
  </p:sldMasterIdLst>
  <p:notesMasterIdLst>
    <p:notesMasterId r:id="rId49"/>
  </p:notesMasterIdLst>
  <p:sldIdLst>
    <p:sldId id="256" r:id="rId2"/>
    <p:sldId id="257" r:id="rId3"/>
    <p:sldId id="258" r:id="rId4"/>
    <p:sldId id="260" r:id="rId5"/>
    <p:sldId id="259" r:id="rId6"/>
    <p:sldId id="262" r:id="rId7"/>
    <p:sldId id="261" r:id="rId8"/>
    <p:sldId id="264" r:id="rId9"/>
    <p:sldId id="271" r:id="rId10"/>
    <p:sldId id="265" r:id="rId11"/>
    <p:sldId id="267" r:id="rId12"/>
    <p:sldId id="268" r:id="rId13"/>
    <p:sldId id="266" r:id="rId14"/>
    <p:sldId id="269" r:id="rId15"/>
    <p:sldId id="270" r:id="rId16"/>
    <p:sldId id="272" r:id="rId17"/>
    <p:sldId id="273" r:id="rId18"/>
    <p:sldId id="280" r:id="rId19"/>
    <p:sldId id="274" r:id="rId20"/>
    <p:sldId id="275" r:id="rId21"/>
    <p:sldId id="277" r:id="rId22"/>
    <p:sldId id="276" r:id="rId23"/>
    <p:sldId id="278" r:id="rId24"/>
    <p:sldId id="279" r:id="rId25"/>
    <p:sldId id="281" r:id="rId26"/>
    <p:sldId id="299" r:id="rId27"/>
    <p:sldId id="300" r:id="rId28"/>
    <p:sldId id="282" r:id="rId29"/>
    <p:sldId id="298" r:id="rId30"/>
    <p:sldId id="301" r:id="rId31"/>
    <p:sldId id="30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63" r:id="rId48"/>
  </p:sldIdLst>
  <p:sldSz cx="18288000" cy="10287000"/>
  <p:notesSz cx="6858000" cy="9144000"/>
  <p:embeddedFontLst>
    <p:embeddedFont>
      <p:font typeface="Montnapha" panose="020B0604020202020204" charset="-34"/>
      <p:regular r:id="rId50"/>
    </p:embeddedFont>
    <p:embeddedFont>
      <p:font typeface="Montserrat Bold" panose="00000800000000000000" pitchFamily="2" charset="0"/>
      <p:regular r:id="rId51"/>
      <p:bold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3B156CA-E375-46A4-AA03-30971EE358EC}">
          <p14:sldIdLst>
            <p14:sldId id="256"/>
            <p14:sldId id="257"/>
            <p14:sldId id="258"/>
            <p14:sldId id="260"/>
            <p14:sldId id="259"/>
            <p14:sldId id="262"/>
          </p14:sldIdLst>
        </p14:section>
        <p14:section name="Untitled Section" id="{BF8104B0-1CDC-4CAD-A593-6D2D8C0D0D44}">
          <p14:sldIdLst>
            <p14:sldId id="261"/>
            <p14:sldId id="264"/>
            <p14:sldId id="271"/>
            <p14:sldId id="265"/>
            <p14:sldId id="267"/>
            <p14:sldId id="268"/>
            <p14:sldId id="266"/>
            <p14:sldId id="269"/>
            <p14:sldId id="270"/>
            <p14:sldId id="272"/>
            <p14:sldId id="273"/>
            <p14:sldId id="280"/>
            <p14:sldId id="274"/>
            <p14:sldId id="275"/>
            <p14:sldId id="277"/>
            <p14:sldId id="276"/>
            <p14:sldId id="278"/>
            <p14:sldId id="279"/>
            <p14:sldId id="281"/>
            <p14:sldId id="299"/>
            <p14:sldId id="300"/>
            <p14:sldId id="282"/>
            <p14:sldId id="298"/>
            <p14:sldId id="301"/>
            <p14:sldId id="30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94291" autoAdjust="0"/>
  </p:normalViewPr>
  <p:slideViewPr>
    <p:cSldViewPr>
      <p:cViewPr>
        <p:scale>
          <a:sx n="50" d="100"/>
          <a:sy n="50" d="100"/>
        </p:scale>
        <p:origin x="45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09100-B98D-416F-A557-73F735376D2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CFBD57-B858-4C41-8498-B4160D44D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39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Saya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menambahkan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apa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saja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di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skrip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tersebut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(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modifikasinya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dengan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penjelasan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logikanya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saja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)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perbedaan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dengan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punya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alifah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kemudian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dijelaskan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logikanya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dari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penambahan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tidak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perlu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istilah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langsung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logika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saja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contoh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“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huruf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fa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ro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dipotong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Ketika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pixelnya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tipis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maka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memotong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 (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untuk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bridge).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Kenapa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bisa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memotong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di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titik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itu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jelaskan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?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Lebih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baik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menjelaskan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dengan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visual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lebih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baik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 Gambar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penjelasan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,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gambar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penjelasan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 Jika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memotong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dengan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garis tipis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itu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gimana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? Kan skeleton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itu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garisnya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sama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FBD57-B858-4C41-8498-B4160D44D07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52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Coba </a:t>
            </a:r>
            <a:r>
              <a:rPr lang="en-US" dirty="0" err="1"/>
              <a:t>dikombinasikan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supaya</a:t>
            </a:r>
            <a:r>
              <a:rPr lang="en-US" dirty="0"/>
              <a:t> </a:t>
            </a:r>
            <a:r>
              <a:rPr lang="en-US" dirty="0" err="1"/>
              <a:t>pembacaan</a:t>
            </a:r>
            <a:r>
              <a:rPr lang="en-US" dirty="0"/>
              <a:t> </a:t>
            </a:r>
            <a:r>
              <a:rPr lang="en-US" dirty="0" err="1"/>
              <a:t>hurufnya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fleksibel</a:t>
            </a:r>
            <a:r>
              <a:rPr lang="en-US" dirty="0"/>
              <a:t>(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dimulai</a:t>
            </a:r>
            <a:r>
              <a:rPr lang="en-US" dirty="0"/>
              <a:t> </a:t>
            </a:r>
            <a:r>
              <a:rPr lang="en-US" dirty="0" err="1"/>
              <a:t>darimana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FBD57-B858-4C41-8498-B4160D44D07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385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Dari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hasil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Analisa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bahwa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greedy TSP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membaca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hasilnya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dari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skeleton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bukan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edges. Jadi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hasil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skeleton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hrus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diperbaiki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supaya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akurat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,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ini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berlaku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untuk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kalimat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Panjang dan tulisan yang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kurang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jelas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Ketika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dihasilkan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pada skeleton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FBD57-B858-4C41-8498-B4160D44D07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412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Dasar curve reconstruction pada </a:t>
            </a:r>
            <a:r>
              <a:rPr lang="en-US" dirty="0" err="1"/>
              <a:t>skrip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diawali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pemisahan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per connected component,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jalur</a:t>
            </a:r>
            <a:r>
              <a:rPr lang="en-US" dirty="0"/>
              <a:t> </a:t>
            </a:r>
            <a:r>
              <a:rPr lang="en-US" dirty="0" err="1"/>
              <a:t>kurva</a:t>
            </a:r>
            <a:r>
              <a:rPr lang="en-US" dirty="0"/>
              <a:t> yang </a:t>
            </a:r>
            <a:r>
              <a:rPr lang="en-US" dirty="0" err="1"/>
              <a:t>direkonstruksi</a:t>
            </a:r>
            <a:r>
              <a:rPr lang="en-US" dirty="0"/>
              <a:t> </a:t>
            </a:r>
            <a:r>
              <a:rPr lang="en-US" dirty="0" err="1"/>
              <a:t>mengikuti</a:t>
            </a:r>
            <a:r>
              <a:rPr lang="en-US" dirty="0"/>
              <a:t> skeleton </a:t>
            </a:r>
            <a:r>
              <a:rPr lang="en-US" dirty="0" err="1"/>
              <a:t>dari</a:t>
            </a:r>
            <a:r>
              <a:rPr lang="en-US" dirty="0"/>
              <a:t> masing-masing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FBD57-B858-4C41-8498-B4160D44D07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3937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FBD57-B858-4C41-8498-B4160D44D07F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968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73F40-65AF-C685-80E4-22A3C8980F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78CAC-7309-8A75-7FF8-BA48E027B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C7666-6C0C-E8FA-6668-C69EFB445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6079D-4B3C-27AB-C70B-A2207D1E6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D7912-D0E4-7C08-F075-3709BD66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16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4DF3A-915F-6ABB-42A9-2A1CBEA46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8AADA-06C3-3F20-9703-579A08BDC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3D30C-F2DB-054C-A309-9018E458C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B28C9-B024-853D-4CE6-DA06DF7F8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C22FD-B430-8571-3120-1879E264C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79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BF6B1-E224-683F-5B5E-CF7C5A93A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0B0D2-B9F6-B79A-4770-BC79A4C78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99334-4E62-C524-08CA-F3F12FAD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6047A-8F73-0B4E-51A2-EF1F4CF1F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03224-8F35-7BEE-0CBA-96EC6F985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23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CC17E-47C6-2E32-73D6-8FBBEE711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1C3E-3656-6399-5F7D-8E8D73DD0D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1F2A51-A83A-32D3-AB30-550DE70B5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21B24-4177-A578-5A0B-D607C2782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57EA9-F6C4-8C52-66CA-0CBCB5CF0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205780-C79D-8DAC-E0D7-6F134E92B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37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98A54-B068-4FD1-0528-83B651B30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55808-B26D-DBA9-6EFA-9D0B3B19E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333193-7537-4DBE-60F5-F9C8651D2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74CFD7-9EF6-28A9-8174-65BAB83DEB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709B2F-5088-7978-1270-5215121463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D4DAAF-6AF7-BC7F-BF0B-7F33FC01A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5C41E3-6FD9-3C64-8DDC-F6D69CC8C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ACBBB3-3140-E5F1-0067-6D2CD2E33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99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DB067-A668-221B-DA24-CD8840A33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78202B-77F4-52EA-2B65-8952F39AD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8C9CE-544F-A0B6-2822-4873B694B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B4FD0-B929-152F-58C8-BBC5FE8EC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59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8C75D4-6D76-4BED-CF60-67AAEDF62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50FC82-264E-8C2F-05F8-D13480012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FB735-D778-2897-45A3-033EEE3F8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605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728A9-12FB-7EB6-A64A-FF3C1522F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1E282-585A-BBA9-7FB7-894E7DEFC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CA6ABB-4223-C63B-CAE6-1BA646A6E0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FCC39-15F4-13D6-B27C-BC103203D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9C9992-05E6-D4F2-5844-C84049B09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10579-0394-086B-FE2C-6BE10966D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084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00CD5-89CB-434F-3DEE-76ED4FA5B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7A59F3-B54C-C94A-43E8-5C2ACF4DDD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E504EE-FA2E-EBF7-EA77-CED94DA87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E03F3-684B-918A-D5A9-CBEB32F93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C22821-9263-A347-4700-03A5D1DFF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3B2E4-998A-421C-0B52-03F252AD1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54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F62C-61CA-0E32-E252-5DC1752B9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FC14BC-3A2A-9141-F1AF-771A0A00BE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9B9A1-7B4E-C05B-F4D0-928E585CF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8FFBD-555D-615C-4BF3-42962BE80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48960-6820-1092-E15B-CC3792650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215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CB9488-367A-312B-E945-9A6EA5737D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A4718B-1D78-E06D-B62B-643EA45FA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50154-AF30-5027-AFF2-27FDA614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5E742-47BA-620A-D000-FEB8D5F13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58F8C-6E24-3219-7F15-031D3B2EC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355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73FF5F-AF64-427D-924D-167737B92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AF970-1912-E942-8906-CEB4F4030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B9D5D-ACBD-0C9C-610A-F31EF1C1A1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3BD78-6B91-CB8C-6B03-BA6C91D60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AA318-ECF8-32CD-966F-021632E0E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673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image.org/docs/stable/api/skimage.morphology.html#skimage.morphology.skeletoniz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 flipH="1">
            <a:off x="3646376" y="5315717"/>
            <a:ext cx="10995248" cy="339853"/>
          </a:xfrm>
          <a:custGeom>
            <a:avLst/>
            <a:gdLst/>
            <a:ahLst/>
            <a:cxnLst/>
            <a:rect l="l" t="t" r="r" b="b"/>
            <a:pathLst>
              <a:path w="10995248" h="339853">
                <a:moveTo>
                  <a:pt x="10995248" y="0"/>
                </a:moveTo>
                <a:lnTo>
                  <a:pt x="0" y="0"/>
                </a:lnTo>
                <a:lnTo>
                  <a:pt x="0" y="339853"/>
                </a:lnTo>
                <a:lnTo>
                  <a:pt x="10995248" y="339853"/>
                </a:lnTo>
                <a:lnTo>
                  <a:pt x="109952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126379" y="3496381"/>
            <a:ext cx="12035243" cy="1650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8000" b="1" dirty="0">
                <a:solidFill>
                  <a:srgbClr val="2C6B8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PROGRES REPORT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77064" y="5681027"/>
            <a:ext cx="9533873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12"/>
              </a:lnSpc>
            </a:pPr>
            <a:r>
              <a:rPr lang="en-US" sz="4508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Setiawan Cahyono 202269040066</a:t>
            </a:r>
          </a:p>
        </p:txBody>
      </p:sp>
      <p:sp>
        <p:nvSpPr>
          <p:cNvPr id="13" name="Freeform 13"/>
          <p:cNvSpPr/>
          <p:nvPr/>
        </p:nvSpPr>
        <p:spPr>
          <a:xfrm>
            <a:off x="8614642" y="924631"/>
            <a:ext cx="789293" cy="1028700"/>
          </a:xfrm>
          <a:custGeom>
            <a:avLst/>
            <a:gdLst/>
            <a:ahLst/>
            <a:cxnLst/>
            <a:rect l="l" t="t" r="r" b="b"/>
            <a:pathLst>
              <a:path w="789293" h="1028700">
                <a:moveTo>
                  <a:pt x="0" y="0"/>
                </a:moveTo>
                <a:lnTo>
                  <a:pt x="789294" y="0"/>
                </a:lnTo>
                <a:lnTo>
                  <a:pt x="789294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 flipH="1">
            <a:off x="3646376" y="2508663"/>
            <a:ext cx="10995248" cy="339853"/>
          </a:xfrm>
          <a:custGeom>
            <a:avLst/>
            <a:gdLst/>
            <a:ahLst/>
            <a:cxnLst/>
            <a:rect l="l" t="t" r="r" b="b"/>
            <a:pathLst>
              <a:path w="10995248" h="339853">
                <a:moveTo>
                  <a:pt x="10995248" y="0"/>
                </a:moveTo>
                <a:lnTo>
                  <a:pt x="0" y="0"/>
                </a:lnTo>
                <a:lnTo>
                  <a:pt x="0" y="339853"/>
                </a:lnTo>
                <a:lnTo>
                  <a:pt x="10995248" y="339853"/>
                </a:lnTo>
                <a:lnTo>
                  <a:pt x="109952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7654" y="571500"/>
            <a:ext cx="6496061" cy="8686800"/>
          </a:xfrm>
          <a:custGeom>
            <a:avLst/>
            <a:gdLst/>
            <a:ahLst/>
            <a:cxnLst/>
            <a:rect l="l" t="t" r="r" b="b"/>
            <a:pathLst>
              <a:path w="4759772" h="6356958">
                <a:moveTo>
                  <a:pt x="0" y="0"/>
                </a:moveTo>
                <a:lnTo>
                  <a:pt x="4759773" y="0"/>
                </a:lnTo>
                <a:lnTo>
                  <a:pt x="475977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533715" y="2259891"/>
            <a:ext cx="11301259" cy="3362125"/>
          </a:xfrm>
          <a:custGeom>
            <a:avLst/>
            <a:gdLst/>
            <a:ahLst/>
            <a:cxnLst/>
            <a:rect l="l" t="t" r="r" b="b"/>
            <a:pathLst>
              <a:path w="11301259" h="3362125">
                <a:moveTo>
                  <a:pt x="0" y="0"/>
                </a:moveTo>
                <a:lnTo>
                  <a:pt x="11301259" y="0"/>
                </a:lnTo>
                <a:lnTo>
                  <a:pt x="11301259" y="3362125"/>
                </a:lnTo>
                <a:lnTo>
                  <a:pt x="0" y="3362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12731518-489E-EDF6-607A-FE5F0BB91A62}"/>
              </a:ext>
            </a:extLst>
          </p:cNvPr>
          <p:cNvSpPr/>
          <p:nvPr/>
        </p:nvSpPr>
        <p:spPr>
          <a:xfrm>
            <a:off x="7676715" y="5183150"/>
            <a:ext cx="304800" cy="1905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CF188D-6A5D-4141-7BAE-8623CB19DEB5}"/>
              </a:ext>
            </a:extLst>
          </p:cNvPr>
          <p:cNvSpPr txBox="1"/>
          <p:nvPr/>
        </p:nvSpPr>
        <p:spPr>
          <a:xfrm>
            <a:off x="6605373" y="7185990"/>
            <a:ext cx="9762683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1" lvl="1" algn="just">
              <a:lnSpc>
                <a:spcPts val="4200"/>
              </a:lnSpc>
            </a:pP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Titik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FA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E163AF9C-1D66-E2D0-BC3D-0B167576FDD9}"/>
              </a:ext>
            </a:extLst>
          </p:cNvPr>
          <p:cNvSpPr/>
          <p:nvPr/>
        </p:nvSpPr>
        <p:spPr>
          <a:xfrm>
            <a:off x="9943230" y="4977389"/>
            <a:ext cx="304800" cy="1905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62D62C-EB5A-3449-83E1-82E85EF32537}"/>
              </a:ext>
            </a:extLst>
          </p:cNvPr>
          <p:cNvSpPr txBox="1"/>
          <p:nvPr/>
        </p:nvSpPr>
        <p:spPr>
          <a:xfrm>
            <a:off x="8286315" y="6966960"/>
            <a:ext cx="9762683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1" lvl="1" algn="just">
              <a:lnSpc>
                <a:spcPts val="4200"/>
              </a:lnSpc>
            </a:pP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Belum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terpotong</a:t>
            </a:r>
            <a:endParaRPr lang="en-US" sz="30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D1D191-F6EC-D539-474D-342C7DD2AFF4}"/>
              </a:ext>
            </a:extLst>
          </p:cNvPr>
          <p:cNvSpPr txBox="1"/>
          <p:nvPr/>
        </p:nvSpPr>
        <p:spPr>
          <a:xfrm>
            <a:off x="11486715" y="7236264"/>
            <a:ext cx="9762683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1" lvl="1" algn="just">
              <a:lnSpc>
                <a:spcPts val="4200"/>
              </a:lnSpc>
            </a:pP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Pertengahan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antara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fa dan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ro</a:t>
            </a:r>
            <a:endParaRPr lang="en-US" sz="30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076D4EDC-3CFF-CD13-116C-062C25B235DC}"/>
              </a:ext>
            </a:extLst>
          </p:cNvPr>
          <p:cNvSpPr/>
          <p:nvPr/>
        </p:nvSpPr>
        <p:spPr>
          <a:xfrm>
            <a:off x="12031944" y="5299703"/>
            <a:ext cx="304800" cy="1905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7AE879BA-005B-873B-F91C-CF6F71E56900}"/>
              </a:ext>
            </a:extLst>
          </p:cNvPr>
          <p:cNvSpPr txBox="1"/>
          <p:nvPr/>
        </p:nvSpPr>
        <p:spPr>
          <a:xfrm>
            <a:off x="4121564" y="89110"/>
            <a:ext cx="13811689" cy="1372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7200" b="1" dirty="0">
                <a:solidFill>
                  <a:srgbClr val="2C6B8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Saran </a:t>
            </a:r>
            <a:r>
              <a:rPr lang="en-US" sz="7200" b="1" dirty="0" err="1">
                <a:solidFill>
                  <a:srgbClr val="2C6B8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Perbaikan</a:t>
            </a:r>
            <a:endParaRPr lang="en-US" sz="7200" b="1" dirty="0">
              <a:solidFill>
                <a:srgbClr val="2C6B8E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2238155" y="31173"/>
            <a:ext cx="13811689" cy="1450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8500" b="1" dirty="0" err="1">
                <a:solidFill>
                  <a:srgbClr val="2C6B8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Perbaikan</a:t>
            </a:r>
            <a:endParaRPr lang="en-US" sz="8500" b="1" dirty="0">
              <a:solidFill>
                <a:srgbClr val="2C6B8E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5CA5EEA-CD2A-450A-BFDD-C16665D85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317747"/>
            <a:ext cx="5683542" cy="7594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66F6F3-6688-D0A7-4C0E-F51EBD24D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1506390"/>
            <a:ext cx="10578168" cy="41909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2789058" y="870042"/>
            <a:ext cx="11205693" cy="6822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1466" lvl="1" algn="just">
              <a:lnSpc>
                <a:spcPts val="3780"/>
              </a:lnSpc>
            </a:pP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Penambahan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aturan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</a:t>
            </a:r>
          </a:p>
          <a:p>
            <a:pPr marL="291466" lvl="1" algn="just">
              <a:lnSpc>
                <a:spcPts val="3780"/>
              </a:lnSpc>
            </a:pPr>
            <a:endParaRPr lang="en-US" sz="27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  <a:p>
            <a:pPr marL="805816" lvl="1" indent="-514350" algn="just">
              <a:lnSpc>
                <a:spcPts val="3780"/>
              </a:lnSpc>
              <a:buAutoNum type="arabicPeriod"/>
            </a:pP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Jika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penghubung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antara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2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huruf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Ketika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dipotong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menghasilkan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pemotongan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huruf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yang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sama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besar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makan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akan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dilakukan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pemotongan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dititik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tersebut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</a:t>
            </a:r>
          </a:p>
          <a:p>
            <a:pPr marL="805816" lvl="1" indent="-514350" algn="just">
              <a:lnSpc>
                <a:spcPts val="3780"/>
              </a:lnSpc>
              <a:buAutoNum type="arabicPeriod"/>
            </a:pPr>
            <a:r>
              <a:rPr lang="en-US" sz="2800" b="1" dirty="0"/>
              <a:t>Jika</a:t>
            </a:r>
            <a:r>
              <a:rPr lang="en-US" sz="2800" dirty="0"/>
              <a:t> </a:t>
            </a:r>
            <a:r>
              <a:rPr lang="en-US" sz="2800" dirty="0" err="1"/>
              <a:t>ada</a:t>
            </a:r>
            <a:r>
              <a:rPr lang="en-US" sz="2800" dirty="0"/>
              <a:t> dot/</a:t>
            </a:r>
            <a:r>
              <a:rPr lang="en-US" sz="2800" dirty="0" err="1"/>
              <a:t>diakritik</a:t>
            </a:r>
            <a:r>
              <a:rPr lang="en-US" sz="2800" dirty="0"/>
              <a:t> </a:t>
            </a:r>
            <a:r>
              <a:rPr lang="en-US" sz="2800" dirty="0" err="1"/>
              <a:t>terpisah</a:t>
            </a:r>
            <a:r>
              <a:rPr lang="en-US" sz="2800" dirty="0"/>
              <a:t>, </a:t>
            </a:r>
            <a:r>
              <a:rPr lang="en-US" sz="2800" b="1" dirty="0" err="1"/>
              <a:t>maka</a:t>
            </a:r>
            <a:r>
              <a:rPr lang="en-US" sz="2800" dirty="0"/>
              <a:t> </a:t>
            </a:r>
            <a:r>
              <a:rPr lang="en-US" sz="2800" dirty="0" err="1"/>
              <a:t>hitung</a:t>
            </a:r>
            <a:r>
              <a:rPr lang="en-US" sz="2800" dirty="0"/>
              <a:t> </a:t>
            </a:r>
            <a:r>
              <a:rPr lang="en-US" sz="2800" dirty="0" err="1"/>
              <a:t>jarak</a:t>
            </a:r>
            <a:r>
              <a:rPr lang="en-US" sz="2800" dirty="0"/>
              <a:t> </a:t>
            </a:r>
            <a:r>
              <a:rPr lang="en-US" sz="2800" dirty="0" err="1"/>
              <a:t>pemisah</a:t>
            </a:r>
            <a:r>
              <a:rPr lang="en-US" sz="2800" dirty="0"/>
              <a:t> </a:t>
            </a:r>
            <a:r>
              <a:rPr lang="en-US" sz="2800" dirty="0" err="1"/>
              <a:t>anatara</a:t>
            </a:r>
            <a:r>
              <a:rPr lang="en-US" sz="2800" dirty="0"/>
              <a:t> dot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</a:t>
            </a:r>
            <a:r>
              <a:rPr lang="en-US" sz="2800" dirty="0" err="1"/>
              <a:t>utama</a:t>
            </a:r>
            <a:r>
              <a:rPr lang="en-US" sz="2800" dirty="0"/>
              <a:t>/</a:t>
            </a:r>
            <a:r>
              <a:rPr lang="en-US" sz="2800" dirty="0" err="1"/>
              <a:t>tiap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dan </a:t>
            </a:r>
            <a:r>
              <a:rPr lang="en-US" sz="2800" b="1" dirty="0" err="1"/>
              <a:t>tempelkan</a:t>
            </a:r>
            <a:r>
              <a:rPr lang="en-US" sz="2800" dirty="0"/>
              <a:t> dot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jarak</a:t>
            </a:r>
            <a:r>
              <a:rPr lang="en-US" sz="2800" dirty="0"/>
              <a:t> paling </a:t>
            </a:r>
            <a:r>
              <a:rPr lang="en-US" sz="2800" dirty="0" err="1"/>
              <a:t>kecil</a:t>
            </a:r>
            <a:endParaRPr lang="en-US" sz="2800" dirty="0"/>
          </a:p>
          <a:p>
            <a:pPr marL="805816" lvl="1" indent="-514350" algn="just">
              <a:lnSpc>
                <a:spcPts val="3780"/>
              </a:lnSpc>
              <a:buAutoNum type="arabicPeriod"/>
            </a:pPr>
            <a:r>
              <a:rPr lang="en-US" sz="2800" b="1" dirty="0"/>
              <a:t>Jika</a:t>
            </a:r>
            <a:r>
              <a:rPr lang="en-US" sz="2800" dirty="0"/>
              <a:t> </a:t>
            </a:r>
            <a:r>
              <a:rPr lang="en-US" sz="2800" dirty="0" err="1"/>
              <a:t>tiap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</a:t>
            </a:r>
            <a:r>
              <a:rPr lang="en-US" sz="2800" dirty="0" err="1"/>
              <a:t>dibuatkan</a:t>
            </a:r>
            <a:r>
              <a:rPr lang="en-US" sz="2800" dirty="0"/>
              <a:t> </a:t>
            </a:r>
            <a:r>
              <a:rPr lang="en-US" sz="2800" b="1" dirty="0"/>
              <a:t>background </a:t>
            </a:r>
            <a:r>
              <a:rPr lang="en-US" sz="2800" b="1" dirty="0" err="1"/>
              <a:t>kosong</a:t>
            </a:r>
            <a:r>
              <a:rPr lang="en-US" sz="2800" b="1" dirty="0"/>
              <a:t> </a:t>
            </a:r>
            <a:r>
              <a:rPr lang="en-US" sz="2800" dirty="0"/>
              <a:t>(</a:t>
            </a:r>
            <a:r>
              <a:rPr lang="en-US" sz="2800" dirty="0" err="1"/>
              <a:t>lalu</a:t>
            </a:r>
            <a:r>
              <a:rPr lang="en-US" sz="2800" dirty="0"/>
              <a:t> </a:t>
            </a:r>
            <a:r>
              <a:rPr lang="en-US" sz="2800" dirty="0" err="1"/>
              <a:t>hanya</a:t>
            </a:r>
            <a:r>
              <a:rPr lang="en-US" sz="2800" dirty="0"/>
              <a:t> </a:t>
            </a:r>
            <a:r>
              <a:rPr lang="en-US" sz="2800" dirty="0" err="1"/>
              <a:t>mengaktifkan</a:t>
            </a:r>
            <a:r>
              <a:rPr lang="en-US" sz="2800" dirty="0"/>
              <a:t> </a:t>
            </a:r>
            <a:r>
              <a:rPr lang="en-US" sz="2800" dirty="0" err="1"/>
              <a:t>piksel</a:t>
            </a:r>
            <a:r>
              <a:rPr lang="en-US" sz="2800" dirty="0"/>
              <a:t> </a:t>
            </a:r>
            <a:r>
              <a:rPr lang="en-US" sz="2800" dirty="0" err="1"/>
              <a:t>milik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</a:t>
            </a:r>
            <a:r>
              <a:rPr lang="en-US" sz="2800" dirty="0" err="1"/>
              <a:t>itu</a:t>
            </a:r>
            <a:r>
              <a:rPr lang="en-US" sz="2800" dirty="0"/>
              <a:t>), </a:t>
            </a:r>
            <a:r>
              <a:rPr lang="en-US" sz="2800" b="1" dirty="0" err="1"/>
              <a:t>maka</a:t>
            </a:r>
            <a:r>
              <a:rPr lang="en-US" sz="2800" dirty="0"/>
              <a:t> proses </a:t>
            </a:r>
            <a:r>
              <a:rPr lang="en-US" sz="2800" dirty="0" err="1"/>
              <a:t>pemotongan</a:t>
            </a:r>
            <a:r>
              <a:rPr lang="en-US" sz="2800" dirty="0"/>
              <a:t> </a:t>
            </a:r>
            <a:r>
              <a:rPr lang="en-US" sz="2800" dirty="0" err="1"/>
              <a:t>hanya</a:t>
            </a:r>
            <a:r>
              <a:rPr lang="en-US" sz="2800" dirty="0"/>
              <a:t> </a:t>
            </a:r>
            <a:r>
              <a:rPr lang="en-US" sz="2800" dirty="0" err="1"/>
              <a:t>mengambil</a:t>
            </a:r>
            <a:r>
              <a:rPr lang="en-US" sz="2800" dirty="0"/>
              <a:t> </a:t>
            </a:r>
            <a:r>
              <a:rPr lang="en-US" sz="2800" dirty="0" err="1"/>
              <a:t>piksel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</a:t>
            </a:r>
            <a:r>
              <a:rPr lang="en-US" sz="2800" dirty="0" err="1"/>
              <a:t>tersebut</a:t>
            </a:r>
            <a:r>
              <a:rPr lang="en-US" sz="2800" dirty="0"/>
              <a:t> dan </a:t>
            </a:r>
            <a:r>
              <a:rPr lang="en-US" sz="2800" dirty="0" err="1"/>
              <a:t>tidak</a:t>
            </a:r>
            <a:r>
              <a:rPr lang="en-US" sz="2800" dirty="0"/>
              <a:t> “</a:t>
            </a:r>
            <a:r>
              <a:rPr lang="en-US" sz="2800" dirty="0" err="1"/>
              <a:t>ketarik</a:t>
            </a:r>
            <a:r>
              <a:rPr lang="en-US" sz="2800" dirty="0"/>
              <a:t>” </a:t>
            </a:r>
            <a:r>
              <a:rPr lang="en-US" sz="2800" dirty="0" err="1"/>
              <a:t>piksel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lain.</a:t>
            </a:r>
          </a:p>
          <a:p>
            <a:pPr marL="805816" lvl="1" indent="-514350" algn="just">
              <a:lnSpc>
                <a:spcPts val="3780"/>
              </a:lnSpc>
              <a:buAutoNum type="arabicPeriod"/>
            </a:pPr>
            <a:r>
              <a:rPr lang="en-US" sz="2800" dirty="0" err="1"/>
              <a:t>Perubahan</a:t>
            </a:r>
            <a:r>
              <a:rPr lang="en-US" sz="2800" dirty="0"/>
              <a:t> </a:t>
            </a:r>
            <a:r>
              <a:rPr lang="en-US" sz="2800" dirty="0" err="1"/>
              <a:t>penulisan</a:t>
            </a:r>
            <a:r>
              <a:rPr lang="en-US" sz="2800" dirty="0"/>
              <a:t> </a:t>
            </a:r>
            <a:r>
              <a:rPr lang="en-US" sz="2800" dirty="0" err="1"/>
              <a:t>kanan</a:t>
            </a:r>
            <a:r>
              <a:rPr lang="en-US" sz="2800" dirty="0"/>
              <a:t>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kiri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hasil</a:t>
            </a:r>
            <a:r>
              <a:rPr lang="en-US" sz="2800" dirty="0"/>
              <a:t> </a:t>
            </a:r>
            <a:r>
              <a:rPr lang="en-US" sz="2800" dirty="0" err="1"/>
              <a:t>pemotongan</a:t>
            </a:r>
            <a:endParaRPr lang="en-US" sz="2800" dirty="0"/>
          </a:p>
          <a:p>
            <a:pPr marL="805816" lvl="1" indent="-514350" algn="just">
              <a:lnSpc>
                <a:spcPts val="3780"/>
              </a:lnSpc>
              <a:buAutoNum type="arabicPeriod"/>
            </a:pPr>
            <a:endParaRPr lang="en-US" sz="27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  <a:p>
            <a:pPr marL="805816" lvl="1" indent="-514350" algn="just">
              <a:lnSpc>
                <a:spcPts val="3780"/>
              </a:lnSpc>
              <a:buAutoNum type="arabicPeriod"/>
            </a:pPr>
            <a:endParaRPr lang="en-US" sz="27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 flipH="1">
            <a:off x="3646376" y="2508663"/>
            <a:ext cx="10995248" cy="339853"/>
          </a:xfrm>
          <a:custGeom>
            <a:avLst/>
            <a:gdLst/>
            <a:ahLst/>
            <a:cxnLst/>
            <a:rect l="l" t="t" r="r" b="b"/>
            <a:pathLst>
              <a:path w="10995248" h="339853">
                <a:moveTo>
                  <a:pt x="10995248" y="0"/>
                </a:moveTo>
                <a:lnTo>
                  <a:pt x="0" y="0"/>
                </a:lnTo>
                <a:lnTo>
                  <a:pt x="0" y="339853"/>
                </a:lnTo>
                <a:lnTo>
                  <a:pt x="10995248" y="339853"/>
                </a:lnTo>
                <a:lnTo>
                  <a:pt x="109952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435930" y="4082231"/>
            <a:ext cx="11416137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1" lvl="1" algn="just">
              <a:lnSpc>
                <a:spcPts val="4200"/>
              </a:lnSpc>
            </a:pP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Masih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tidak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akurat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pada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pembacaan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kalimat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Panjang,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karena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jarak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ada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yang Panjang dan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pendek</a:t>
            </a:r>
            <a:endParaRPr lang="en-US" sz="30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8176EF89-96B7-D06D-8AC4-D35DCE99522D}"/>
              </a:ext>
            </a:extLst>
          </p:cNvPr>
          <p:cNvSpPr txBox="1"/>
          <p:nvPr/>
        </p:nvSpPr>
        <p:spPr>
          <a:xfrm>
            <a:off x="3225487" y="7458677"/>
            <a:ext cx="11416137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1" lvl="1" algn="just">
              <a:lnSpc>
                <a:spcPts val="4200"/>
              </a:lnSpc>
            </a:pP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Dan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dari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hasil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pemotongan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tersebut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juga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masih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ada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pembacaan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ganda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yang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dihasilkan</a:t>
            </a:r>
            <a:endParaRPr lang="en-US" sz="30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1E9112C-E342-DEF2-381C-A8E0E38AB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2538" y="1337605"/>
            <a:ext cx="12130679" cy="25776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90B9785-FA04-5D8D-4DF8-C214678418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5790603"/>
            <a:ext cx="17145000" cy="13910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7541F-ED26-681C-41E9-31DBBA65C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571500"/>
            <a:ext cx="8610600" cy="71675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Masukan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4C813-CAF3-FFD5-CEFC-543F39227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1298646"/>
            <a:ext cx="13716000" cy="3692454"/>
          </a:xfrm>
        </p:spPr>
        <p:txBody>
          <a:bodyPr>
            <a:normAutofit/>
          </a:bodyPr>
          <a:lstStyle/>
          <a:p>
            <a:pPr marL="742950" indent="-742950" algn="l">
              <a:buAutoNum type="arabicPeriod"/>
            </a:pPr>
            <a:r>
              <a:rPr lang="en-US" dirty="0" err="1"/>
              <a:t>Persimpangan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potensi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memotong</a:t>
            </a:r>
            <a:r>
              <a:rPr lang="en-US" dirty="0"/>
              <a:t>, </a:t>
            </a:r>
            <a:r>
              <a:rPr lang="en-US" dirty="0" err="1"/>
              <a:t>jadi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mendeteksi</a:t>
            </a:r>
            <a:r>
              <a:rPr lang="en-US" dirty="0"/>
              <a:t> </a:t>
            </a:r>
            <a:r>
              <a:rPr lang="en-US" dirty="0" err="1"/>
              <a:t>persimpangan</a:t>
            </a:r>
            <a:r>
              <a:rPr lang="en-US" dirty="0"/>
              <a:t>(junction) </a:t>
            </a:r>
            <a:r>
              <a:rPr lang="en-US" dirty="0" err="1"/>
              <a:t>dulu</a:t>
            </a:r>
            <a:r>
              <a:rPr lang="en-US" dirty="0"/>
              <a:t>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algoritmanya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memotong</a:t>
            </a:r>
            <a:r>
              <a:rPr lang="en-US" dirty="0"/>
              <a:t>.</a:t>
            </a:r>
          </a:p>
          <a:p>
            <a:pPr marL="742950" indent="-742950" algn="l">
              <a:buAutoNum type="arabicPeriod"/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yang </a:t>
            </a:r>
            <a:r>
              <a:rPr lang="en-US" dirty="0" err="1"/>
              <a:t>terhapus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skeleton, kayak </a:t>
            </a:r>
            <a:r>
              <a:rPr lang="en-US" dirty="0" err="1"/>
              <a:t>wawu</a:t>
            </a:r>
            <a:r>
              <a:rPr lang="en-US" dirty="0"/>
              <a:t>,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(dot/</a:t>
            </a:r>
            <a:r>
              <a:rPr lang="en-US" dirty="0" err="1"/>
              <a:t>diakritik</a:t>
            </a:r>
            <a:r>
              <a:rPr lang="en-US" dirty="0"/>
              <a:t>), </a:t>
            </a:r>
            <a:r>
              <a:rPr lang="en-US" dirty="0" err="1"/>
              <a:t>coba</a:t>
            </a:r>
            <a:r>
              <a:rPr lang="en-US" dirty="0"/>
              <a:t> </a:t>
            </a:r>
            <a:r>
              <a:rPr lang="en-US" dirty="0" err="1"/>
              <a:t>diubah</a:t>
            </a:r>
            <a:r>
              <a:rPr lang="en-US" dirty="0"/>
              <a:t> </a:t>
            </a:r>
            <a:r>
              <a:rPr lang="en-US" dirty="0" err="1"/>
              <a:t>ubah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morfologinya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thresholdingnya</a:t>
            </a:r>
            <a:r>
              <a:rPr lang="en-US" dirty="0"/>
              <a:t> (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parameternya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876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80E45-19E4-DA53-CB24-A05DFCDA7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1">
            <a:extLst>
              <a:ext uri="{FF2B5EF4-FFF2-40B4-BE49-F238E27FC236}">
                <a16:creationId xmlns:a16="http://schemas.microsoft.com/office/drawing/2014/main" id="{5884099C-07DC-E8AA-6459-0E85D22812C8}"/>
              </a:ext>
            </a:extLst>
          </p:cNvPr>
          <p:cNvSpPr txBox="1"/>
          <p:nvPr/>
        </p:nvSpPr>
        <p:spPr>
          <a:xfrm>
            <a:off x="3225487" y="7458677"/>
            <a:ext cx="11416137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1" lvl="1" algn="just">
              <a:lnSpc>
                <a:spcPts val="4200"/>
              </a:lnSpc>
            </a:pPr>
            <a:endParaRPr lang="en-US" sz="30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4725AF-FC95-4B08-02D6-55246A886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5804" y="1129240"/>
            <a:ext cx="9496391" cy="23209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6D2447-F5EA-3C53-B1D3-2B9B3A9FE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487" y="5376519"/>
            <a:ext cx="13111775" cy="2647981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03F287EA-CF7B-9A6A-FB68-46FF7ABE4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89623"/>
            <a:ext cx="13716000" cy="568254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/>
              <a:t>Threshold </a:t>
            </a:r>
            <a:r>
              <a:rPr lang="en-US" dirty="0" err="1"/>
              <a:t>penambahan</a:t>
            </a:r>
            <a:r>
              <a:rPr lang="en-US" dirty="0"/>
              <a:t> </a:t>
            </a:r>
            <a:r>
              <a:rPr lang="en-US" dirty="0" err="1"/>
              <a:t>otsu_bias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40B225-64B7-6F41-768B-9EFB392DAC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0579" y="3736941"/>
            <a:ext cx="14966839" cy="119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994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40E5D365-8B6F-F57D-487E-2001C4306EF0}"/>
              </a:ext>
            </a:extLst>
          </p:cNvPr>
          <p:cNvSpPr txBox="1">
            <a:spLocks/>
          </p:cNvSpPr>
          <p:nvPr/>
        </p:nvSpPr>
        <p:spPr>
          <a:xfrm>
            <a:off x="457200" y="489623"/>
            <a:ext cx="13716000" cy="5682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Threshold </a:t>
            </a:r>
            <a:r>
              <a:rPr lang="en-US" dirty="0" err="1"/>
              <a:t>penambahan</a:t>
            </a:r>
            <a:r>
              <a:rPr lang="en-US" dirty="0"/>
              <a:t> </a:t>
            </a:r>
            <a:r>
              <a:rPr lang="en-US" dirty="0" err="1"/>
              <a:t>otsu_bias</a:t>
            </a:r>
            <a:r>
              <a:rPr lang="en-US" dirty="0"/>
              <a:t> </a:t>
            </a:r>
            <a:r>
              <a:rPr lang="en-US" dirty="0" err="1"/>
              <a:t>perbaikan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3DB6CB-D9BE-D88D-F069-246453D6C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4603712"/>
            <a:ext cx="12357149" cy="249558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6541A96-1FB4-177C-48E5-5C77FC4B5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580" y="3009900"/>
            <a:ext cx="14966839" cy="119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592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1629C-97AF-7456-3523-99028F3FF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Perubahan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7C687-0F10-68ED-5751-CD124709A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Penambahan</a:t>
            </a:r>
            <a:r>
              <a:rPr lang="en-US" dirty="0"/>
              <a:t> </a:t>
            </a:r>
            <a:r>
              <a:rPr lang="en-US" dirty="0" err="1"/>
              <a:t>kontras</a:t>
            </a:r>
            <a:r>
              <a:rPr lang="en-US" dirty="0"/>
              <a:t> </a:t>
            </a:r>
            <a:r>
              <a:rPr lang="en-US" dirty="0" err="1"/>
              <a:t>sebelum</a:t>
            </a:r>
            <a:r>
              <a:rPr lang="en-US" dirty="0"/>
              <a:t> di threshold </a:t>
            </a:r>
          </a:p>
          <a:p>
            <a:r>
              <a:rPr lang="en-US" dirty="0" err="1"/>
              <a:t>Pendeteksian</a:t>
            </a:r>
            <a:r>
              <a:rPr lang="en-US" dirty="0"/>
              <a:t> </a:t>
            </a:r>
            <a:r>
              <a:rPr lang="en-US" dirty="0" err="1"/>
              <a:t>lingkaran</a:t>
            </a:r>
            <a:r>
              <a:rPr lang="en-US" dirty="0"/>
              <a:t> (hole)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wawu</a:t>
            </a:r>
            <a:endParaRPr lang="en-US" dirty="0"/>
          </a:p>
          <a:p>
            <a:r>
              <a:rPr lang="en-US" dirty="0" err="1"/>
              <a:t>Memakai</a:t>
            </a:r>
            <a:r>
              <a:rPr lang="en-US" dirty="0"/>
              <a:t> adaptive threshold</a:t>
            </a:r>
          </a:p>
          <a:p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yang </a:t>
            </a:r>
            <a:r>
              <a:rPr lang="en-US" dirty="0" err="1"/>
              <a:t>terputus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morfologi</a:t>
            </a:r>
            <a:r>
              <a:rPr lang="en-US" dirty="0"/>
              <a:t> ellipse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233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42A89-6E60-8DB4-131D-01E71BCAA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skeleton </a:t>
            </a:r>
            <a:r>
              <a:rPr lang="en-US" dirty="0" err="1"/>
              <a:t>medialaxis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BC97B3-020B-CAD6-4FA0-30C1DC13A0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5200" y="4584683"/>
            <a:ext cx="11500332" cy="2322543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8D11F2-DB1A-362F-4DBB-CEC507097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580" y="2857500"/>
            <a:ext cx="14966839" cy="119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557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94D845-3555-C5E8-AFDE-228B39EA1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1028700"/>
            <a:ext cx="12357149" cy="2495581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2CD95C7A-3D0E-0F84-9099-9A5344B5D881}"/>
              </a:ext>
            </a:extLst>
          </p:cNvPr>
          <p:cNvSpPr txBox="1">
            <a:spLocks/>
          </p:cNvSpPr>
          <p:nvPr/>
        </p:nvSpPr>
        <p:spPr>
          <a:xfrm>
            <a:off x="533400" y="3412424"/>
            <a:ext cx="13716000" cy="5682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skimage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A3DC98E-A028-E31B-E9B6-8DC6E1E8ECA5}"/>
              </a:ext>
            </a:extLst>
          </p:cNvPr>
          <p:cNvSpPr txBox="1">
            <a:spLocks/>
          </p:cNvSpPr>
          <p:nvPr/>
        </p:nvSpPr>
        <p:spPr>
          <a:xfrm>
            <a:off x="2857500" y="8974173"/>
            <a:ext cx="13716000" cy="5682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DE71C0-6E6D-A5DC-176C-F8F6D12CE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99" y="3437762"/>
            <a:ext cx="12357149" cy="24955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04FF9D2-D38A-035F-9BED-378CF3035C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9165" y="5988098"/>
            <a:ext cx="11657615" cy="2354307"/>
          </a:xfrm>
          <a:prstGeom prst="rect">
            <a:avLst/>
          </a:prstGeom>
        </p:spPr>
      </p:pic>
      <p:sp>
        <p:nvSpPr>
          <p:cNvPr id="20" name="Subtitle 2">
            <a:extLst>
              <a:ext uri="{FF2B5EF4-FFF2-40B4-BE49-F238E27FC236}">
                <a16:creationId xmlns:a16="http://schemas.microsoft.com/office/drawing/2014/main" id="{285ACD53-84CB-9443-EAC4-7740A28ED722}"/>
              </a:ext>
            </a:extLst>
          </p:cNvPr>
          <p:cNvSpPr txBox="1">
            <a:spLocks/>
          </p:cNvSpPr>
          <p:nvPr/>
        </p:nvSpPr>
        <p:spPr>
          <a:xfrm>
            <a:off x="552450" y="460446"/>
            <a:ext cx="13716000" cy="5682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Simple ITK</a:t>
            </a:r>
          </a:p>
        </p:txBody>
      </p:sp>
    </p:spTree>
    <p:extLst>
      <p:ext uri="{BB962C8B-B14F-4D97-AF65-F5344CB8AC3E}">
        <p14:creationId xmlns:p14="http://schemas.microsoft.com/office/powerpoint/2010/main" val="2666388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EFA5B-7197-90B6-1889-A192CBE0B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9"/>
            <a:ext cx="9639300" cy="633412"/>
          </a:xfrm>
        </p:spPr>
        <p:txBody>
          <a:bodyPr>
            <a:noAutofit/>
          </a:bodyPr>
          <a:lstStyle/>
          <a:p>
            <a:r>
              <a:rPr lang="en-US" sz="4400" dirty="0" err="1"/>
              <a:t>Pemotongan</a:t>
            </a:r>
            <a:r>
              <a:rPr lang="en-US" sz="4400" dirty="0"/>
              <a:t> </a:t>
            </a:r>
            <a:r>
              <a:rPr lang="en-US" sz="4400" dirty="0" err="1"/>
              <a:t>persimpangan</a:t>
            </a:r>
            <a:endParaRPr lang="en-US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983FE1-B190-EB7C-86AA-1514D51E6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421" y="1485901"/>
            <a:ext cx="13762779" cy="29244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928385-5754-E7AA-7904-AABF63887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4358933"/>
            <a:ext cx="17030700" cy="14457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1BDC6A-FF01-1B10-8FC5-E80CFDDF3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6286500"/>
            <a:ext cx="3784566" cy="14457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A25204B-EECE-CF48-3569-AD54DCE888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5825329"/>
            <a:ext cx="4724400" cy="1999630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9D0AB95B-09D5-9856-138B-08F0B7920954}"/>
              </a:ext>
            </a:extLst>
          </p:cNvPr>
          <p:cNvSpPr/>
          <p:nvPr/>
        </p:nvSpPr>
        <p:spPr>
          <a:xfrm>
            <a:off x="4876800" y="7009394"/>
            <a:ext cx="1828800" cy="2739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9286B12-9747-B93C-C885-BA07A092E6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01" y="8260271"/>
            <a:ext cx="1426598" cy="16611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12B94ED-FA63-DC02-6FAD-8B32CE12B5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1330" y="8214067"/>
            <a:ext cx="1438305" cy="1625910"/>
          </a:xfrm>
          <a:prstGeom prst="rect">
            <a:avLst/>
          </a:prstGeom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36B132D1-528F-5961-25D1-CBC2021BCCB0}"/>
              </a:ext>
            </a:extLst>
          </p:cNvPr>
          <p:cNvSpPr/>
          <p:nvPr/>
        </p:nvSpPr>
        <p:spPr>
          <a:xfrm>
            <a:off x="3733800" y="8801100"/>
            <a:ext cx="4572000" cy="2739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7AEB040-5CD4-7009-E7AB-D8F718077352}"/>
              </a:ext>
            </a:extLst>
          </p:cNvPr>
          <p:cNvSpPr txBox="1">
            <a:spLocks/>
          </p:cNvSpPr>
          <p:nvPr/>
        </p:nvSpPr>
        <p:spPr>
          <a:xfrm>
            <a:off x="4622766" y="8298403"/>
            <a:ext cx="9639300" cy="6334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Belum </a:t>
            </a:r>
            <a:r>
              <a:rPr lang="en-US" sz="3200" dirty="0" err="1"/>
              <a:t>terpotong</a:t>
            </a:r>
            <a:endParaRPr lang="en-US" sz="320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EE5C756-7C2F-E3C5-4EDB-59FAD8714351}"/>
              </a:ext>
            </a:extLst>
          </p:cNvPr>
          <p:cNvSpPr txBox="1">
            <a:spLocks/>
          </p:cNvSpPr>
          <p:nvPr/>
        </p:nvSpPr>
        <p:spPr>
          <a:xfrm>
            <a:off x="4643843" y="6409631"/>
            <a:ext cx="9639300" cy="6334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sudah</a:t>
            </a:r>
            <a:r>
              <a:rPr lang="en-US" sz="2400" dirty="0"/>
              <a:t> </a:t>
            </a:r>
            <a:r>
              <a:rPr lang="en-US" sz="2400" dirty="0" err="1"/>
              <a:t>terpotong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44685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6646A-6300-9AE0-808E-DBF525887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A88FC-0D22-66A4-2777-6127D055D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 err="1"/>
              <a:t>Pemotongan</a:t>
            </a:r>
            <a:r>
              <a:rPr lang="en-US" sz="5400" dirty="0"/>
              <a:t> junction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BB0C04-E3B2-AD88-363F-510DC7B67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215" y="2324100"/>
            <a:ext cx="12527569" cy="26829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4A084E-2CD7-F3E6-2B48-0397762FE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181600"/>
            <a:ext cx="17373600" cy="14537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8A5D5B-D7C1-0B09-208E-CCC1C2A4F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4425" y="7642584"/>
            <a:ext cx="2679150" cy="2096728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1D64C929-4EF8-B641-1D91-94EE3DD567C2}"/>
              </a:ext>
            </a:extLst>
          </p:cNvPr>
          <p:cNvSpPr/>
          <p:nvPr/>
        </p:nvSpPr>
        <p:spPr>
          <a:xfrm>
            <a:off x="8915400" y="6783427"/>
            <a:ext cx="228600" cy="86915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587E52D-E77C-5CAE-FBED-D57D25BACF7B}"/>
              </a:ext>
            </a:extLst>
          </p:cNvPr>
          <p:cNvSpPr txBox="1">
            <a:spLocks/>
          </p:cNvSpPr>
          <p:nvPr/>
        </p:nvSpPr>
        <p:spPr>
          <a:xfrm>
            <a:off x="468904" y="7141386"/>
            <a:ext cx="7760695" cy="8691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Rules : Logika </a:t>
            </a:r>
            <a:r>
              <a:rPr lang="en-US" sz="5400" dirty="0" err="1"/>
              <a:t>pemotongan</a:t>
            </a:r>
            <a:r>
              <a:rPr lang="en-US" sz="5400" dirty="0"/>
              <a:t> </a:t>
            </a:r>
            <a:r>
              <a:rPr lang="en-US" sz="5400" dirty="0" err="1"/>
              <a:t>antara</a:t>
            </a:r>
            <a:r>
              <a:rPr lang="en-US" sz="5400" dirty="0"/>
              <a:t> 2 </a:t>
            </a:r>
            <a:r>
              <a:rPr lang="en-US" sz="5400" dirty="0" err="1"/>
              <a:t>baru</a:t>
            </a:r>
            <a:r>
              <a:rPr lang="en-US" sz="5400" dirty="0"/>
              <a:t> </a:t>
            </a:r>
            <a:r>
              <a:rPr lang="en-US" sz="5400" dirty="0" err="1"/>
              <a:t>bagian</a:t>
            </a:r>
            <a:r>
              <a:rPr lang="en-US" sz="5400" dirty="0"/>
              <a:t> Tengah </a:t>
            </a:r>
            <a:r>
              <a:rPr lang="en-US" sz="5400" dirty="0" err="1"/>
              <a:t>ada</a:t>
            </a:r>
            <a:r>
              <a:rPr lang="en-US" sz="5400" dirty="0"/>
              <a:t> </a:t>
            </a:r>
            <a:r>
              <a:rPr lang="en-US" sz="5400" dirty="0" err="1"/>
              <a:t>leher</a:t>
            </a:r>
            <a:r>
              <a:rPr lang="en-US" sz="5400" dirty="0"/>
              <a:t> </a:t>
            </a:r>
            <a:r>
              <a:rPr lang="en-US" sz="5400" dirty="0" err="1"/>
              <a:t>maka</a:t>
            </a:r>
            <a:r>
              <a:rPr lang="en-US" sz="5400" dirty="0"/>
              <a:t> </a:t>
            </a:r>
            <a:r>
              <a:rPr lang="en-US" sz="5400" dirty="0" err="1"/>
              <a:t>akan</a:t>
            </a:r>
            <a:r>
              <a:rPr lang="en-US" sz="5400" dirty="0"/>
              <a:t> </a:t>
            </a:r>
            <a:r>
              <a:rPr lang="en-US" sz="5400" dirty="0" err="1"/>
              <a:t>memotong</a:t>
            </a:r>
            <a:r>
              <a:rPr lang="en-US" sz="5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1082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8BAFC-DB09-BCFA-C8C1-AD9B5676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9"/>
            <a:ext cx="10782300" cy="633412"/>
          </a:xfrm>
        </p:spPr>
        <p:txBody>
          <a:bodyPr>
            <a:normAutofit fontScale="90000"/>
          </a:bodyPr>
          <a:lstStyle/>
          <a:p>
            <a:r>
              <a:rPr lang="en-US" dirty="0"/>
              <a:t>junction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5D0FA9-C764-BFFB-5D47-CE3ED5FDE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926" y="1462325"/>
            <a:ext cx="11460148" cy="24543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C024CF-ED69-320D-0E26-D080E3254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16640"/>
            <a:ext cx="18288000" cy="12481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BC7E4B-0251-B59D-6D0F-810A29D60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524500"/>
            <a:ext cx="1619306" cy="17542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7D69D23-9888-5C57-1288-5A9162664A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576227"/>
            <a:ext cx="2321443" cy="15894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F4D21A0-4878-9A25-70BB-32B1843FBD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64682" y="5524500"/>
            <a:ext cx="1607038" cy="17085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AD36AFE-D830-F44F-8DC4-CC541337E4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54910" y="5483550"/>
            <a:ext cx="1438327" cy="20652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F519AFA-E78E-2EDC-C2FE-85371E8BC6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2380" y="5478788"/>
            <a:ext cx="1754247" cy="175424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AE29B2A-25B5-1C62-5B2E-425DDCC403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4310" y="5526967"/>
            <a:ext cx="4031396" cy="1754247"/>
          </a:xfrm>
          <a:prstGeom prst="rect">
            <a:avLst/>
          </a:prstGeom>
        </p:spPr>
      </p:pic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731CBA0E-3073-A973-2683-644FD968B4CC}"/>
              </a:ext>
            </a:extLst>
          </p:cNvPr>
          <p:cNvGraphicFramePr>
            <a:graphicFrameLocks noGrp="1"/>
          </p:cNvGraphicFramePr>
          <p:nvPr/>
        </p:nvGraphicFramePr>
        <p:xfrm>
          <a:off x="6011694" y="5330757"/>
          <a:ext cx="6186791" cy="1964988"/>
        </p:xfrm>
        <a:graphic>
          <a:graphicData uri="http://schemas.openxmlformats.org/drawingml/2006/table">
            <a:tbl>
              <a:tblPr/>
              <a:tblGrid>
                <a:gridCol w="6186791">
                  <a:extLst>
                    <a:ext uri="{9D8B030D-6E8A-4147-A177-3AD203B41FA5}">
                      <a16:colId xmlns:a16="http://schemas.microsoft.com/office/drawing/2014/main" val="3286383826"/>
                    </a:ext>
                  </a:extLst>
                </a:gridCol>
              </a:tblGrid>
              <a:tr h="19649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2365440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06EDA13D-50F2-1247-9E93-0E2E3C4A9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334247"/>
              </p:ext>
            </p:extLst>
          </p:nvPr>
        </p:nvGraphicFramePr>
        <p:xfrm>
          <a:off x="525294" y="5428034"/>
          <a:ext cx="5077838" cy="2003898"/>
        </p:xfrm>
        <a:graphic>
          <a:graphicData uri="http://schemas.openxmlformats.org/drawingml/2006/table">
            <a:tbl>
              <a:tblPr/>
              <a:tblGrid>
                <a:gridCol w="5077838">
                  <a:extLst>
                    <a:ext uri="{9D8B030D-6E8A-4147-A177-3AD203B41FA5}">
                      <a16:colId xmlns:a16="http://schemas.microsoft.com/office/drawing/2014/main" val="613947213"/>
                    </a:ext>
                  </a:extLst>
                </a:gridCol>
              </a:tblGrid>
              <a:tr h="200389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6770836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9C19887E-991D-F96A-5CBB-A83DEF07B6FF}"/>
              </a:ext>
            </a:extLst>
          </p:cNvPr>
          <p:cNvGraphicFramePr>
            <a:graphicFrameLocks noGrp="1"/>
          </p:cNvGraphicFramePr>
          <p:nvPr/>
        </p:nvGraphicFramePr>
        <p:xfrm>
          <a:off x="14027285" y="5369668"/>
          <a:ext cx="3677055" cy="2393004"/>
        </p:xfrm>
        <a:graphic>
          <a:graphicData uri="http://schemas.openxmlformats.org/drawingml/2006/table">
            <a:tbl>
              <a:tblPr/>
              <a:tblGrid>
                <a:gridCol w="3677055">
                  <a:extLst>
                    <a:ext uri="{9D8B030D-6E8A-4147-A177-3AD203B41FA5}">
                      <a16:colId xmlns:a16="http://schemas.microsoft.com/office/drawing/2014/main" val="28068326"/>
                    </a:ext>
                  </a:extLst>
                </a:gridCol>
              </a:tblGrid>
              <a:tr h="239300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0120429"/>
                  </a:ext>
                </a:extLst>
              </a:tr>
            </a:tbl>
          </a:graphicData>
        </a:graphic>
      </p:graphicFrame>
      <p:sp>
        <p:nvSpPr>
          <p:cNvPr id="30" name="Title 1">
            <a:extLst>
              <a:ext uri="{FF2B5EF4-FFF2-40B4-BE49-F238E27FC236}">
                <a16:creationId xmlns:a16="http://schemas.microsoft.com/office/drawing/2014/main" id="{6185239C-30E3-4D9B-E0DD-9F425F4961DE}"/>
              </a:ext>
            </a:extLst>
          </p:cNvPr>
          <p:cNvSpPr txBox="1">
            <a:spLocks/>
          </p:cNvSpPr>
          <p:nvPr/>
        </p:nvSpPr>
        <p:spPr>
          <a:xfrm>
            <a:off x="525294" y="7739036"/>
            <a:ext cx="2675106" cy="633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terpotong</a:t>
            </a:r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7E7FFE2B-17C3-62E2-CEDF-AC934DC6581F}"/>
              </a:ext>
            </a:extLst>
          </p:cNvPr>
          <p:cNvSpPr txBox="1">
            <a:spLocks/>
          </p:cNvSpPr>
          <p:nvPr/>
        </p:nvSpPr>
        <p:spPr>
          <a:xfrm>
            <a:off x="6032771" y="7692702"/>
            <a:ext cx="5591782" cy="633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Terpotong</a:t>
            </a:r>
            <a:r>
              <a:rPr lang="en-US" dirty="0"/>
              <a:t>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ekor</a:t>
            </a:r>
            <a:r>
              <a:rPr lang="en-US" dirty="0"/>
              <a:t> </a:t>
            </a:r>
            <a:r>
              <a:rPr lang="en-US" dirty="0" err="1"/>
              <a:t>wawu</a:t>
            </a:r>
            <a:r>
              <a:rPr lang="en-US" dirty="0"/>
              <a:t> juga </a:t>
            </a:r>
            <a:r>
              <a:rPr lang="en-US" dirty="0" err="1"/>
              <a:t>ikut</a:t>
            </a:r>
            <a:r>
              <a:rPr lang="en-US" dirty="0"/>
              <a:t> </a:t>
            </a:r>
            <a:r>
              <a:rPr lang="en-US" dirty="0" err="1"/>
              <a:t>terpotong</a:t>
            </a:r>
            <a:endParaRPr lang="en-US" dirty="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7BE34E6D-6942-0932-52B4-81C6E12CE4F1}"/>
              </a:ext>
            </a:extLst>
          </p:cNvPr>
          <p:cNvSpPr txBox="1">
            <a:spLocks/>
          </p:cNvSpPr>
          <p:nvPr/>
        </p:nvSpPr>
        <p:spPr>
          <a:xfrm>
            <a:off x="13563600" y="7902656"/>
            <a:ext cx="4008120" cy="1965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43000" indent="-1143000">
              <a:buAutoNum type="arabicPeriod"/>
            </a:pPr>
            <a:r>
              <a:rPr lang="en-US" dirty="0"/>
              <a:t>Belum </a:t>
            </a:r>
            <a:r>
              <a:rPr lang="en-US" dirty="0" err="1"/>
              <a:t>terpotong</a:t>
            </a:r>
            <a:endParaRPr lang="en-US" dirty="0"/>
          </a:p>
          <a:p>
            <a:pPr marL="1143000" indent="-1143000">
              <a:buAutoNum type="arabicPeriod"/>
            </a:pPr>
            <a:r>
              <a:rPr lang="en-US" dirty="0" err="1"/>
              <a:t>Huruf</a:t>
            </a:r>
            <a:r>
              <a:rPr lang="en-US" dirty="0"/>
              <a:t> alif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dianggap</a:t>
            </a:r>
            <a:r>
              <a:rPr lang="en-US" dirty="0"/>
              <a:t> </a:t>
            </a:r>
            <a:r>
              <a:rPr lang="en-US" dirty="0" err="1"/>
              <a:t>diakritik</a:t>
            </a:r>
            <a:r>
              <a:rPr lang="en-US" dirty="0"/>
              <a:t> </a:t>
            </a:r>
            <a:r>
              <a:rPr lang="en-US" dirty="0" err="1"/>
              <a:t>jadi</a:t>
            </a:r>
            <a:r>
              <a:rPr lang="en-US" dirty="0"/>
              <a:t>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ikut</a:t>
            </a:r>
            <a:r>
              <a:rPr lang="en-US" dirty="0"/>
              <a:t> di </a:t>
            </a:r>
            <a:r>
              <a:rPr lang="en-US" dirty="0" err="1"/>
              <a:t>huruf</a:t>
            </a:r>
            <a:r>
              <a:rPr lang="en-US" dirty="0"/>
              <a:t> </a:t>
            </a:r>
            <a:r>
              <a:rPr lang="en-US" dirty="0" err="1"/>
              <a:t>terdekat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459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7409F-255E-9069-99F1-C6DB2AE56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97730-864F-D665-BFED-F58BCE88A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indent="-742950">
              <a:buAutoNum type="arabicPeriod"/>
            </a:pPr>
            <a:r>
              <a:rPr lang="en-US" dirty="0" err="1"/>
              <a:t>Pemotongan</a:t>
            </a:r>
            <a:r>
              <a:rPr lang="en-US" dirty="0"/>
              <a:t>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tiang</a:t>
            </a:r>
            <a:r>
              <a:rPr lang="en-US" dirty="0"/>
              <a:t> Panjang </a:t>
            </a:r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persimpangan</a:t>
            </a:r>
            <a:endParaRPr lang="en-US" dirty="0"/>
          </a:p>
          <a:p>
            <a:pPr marL="742950" indent="-742950">
              <a:buAutoNum type="arabicPeriod"/>
            </a:pPr>
            <a:r>
              <a:rPr lang="en-US" dirty="0" err="1"/>
              <a:t>Pemotongan</a:t>
            </a:r>
            <a:r>
              <a:rPr lang="en-US" dirty="0"/>
              <a:t>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perputaran</a:t>
            </a:r>
            <a:r>
              <a:rPr lang="en-US" dirty="0"/>
              <a:t> (looping), </a:t>
            </a:r>
            <a:r>
              <a:rPr lang="en-US" dirty="0" err="1"/>
              <a:t>jangan</a:t>
            </a:r>
            <a:r>
              <a:rPr lang="en-US" dirty="0"/>
              <a:t> </a:t>
            </a:r>
            <a:r>
              <a:rPr lang="en-US" dirty="0" err="1"/>
              <a:t>putus</a:t>
            </a:r>
            <a:r>
              <a:rPr lang="en-US" dirty="0"/>
              <a:t> di </a:t>
            </a:r>
            <a:r>
              <a:rPr lang="en-US" dirty="0" err="1"/>
              <a:t>dekat</a:t>
            </a:r>
            <a:r>
              <a:rPr lang="en-US" dirty="0"/>
              <a:t> looping</a:t>
            </a:r>
          </a:p>
          <a:p>
            <a:pPr marL="742950" indent="-742950">
              <a:buAutoNum type="arabicPeriod"/>
            </a:pPr>
            <a:r>
              <a:rPr lang="en-US" dirty="0" err="1"/>
              <a:t>Potong</a:t>
            </a:r>
            <a:r>
              <a:rPr lang="en-US" dirty="0"/>
              <a:t> Ketika </a:t>
            </a:r>
            <a:r>
              <a:rPr lang="en-US" dirty="0" err="1"/>
              <a:t>memiliki</a:t>
            </a:r>
            <a:r>
              <a:rPr lang="en-US" dirty="0"/>
              <a:t> 3 </a:t>
            </a:r>
            <a:r>
              <a:rPr lang="en-US" dirty="0" err="1"/>
              <a:t>jalur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742950" indent="-7429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363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46097-FC56-EC0A-AEDA-09DED757E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7048500"/>
            <a:ext cx="16802100" cy="2216945"/>
          </a:xfrm>
        </p:spPr>
        <p:txBody>
          <a:bodyPr/>
          <a:lstStyle/>
          <a:p>
            <a:r>
              <a:rPr lang="en-US" dirty="0"/>
              <a:t>DT(skeleton-&gt;contour) mean/median/min/max: 2.407801389694214/ 2.196899890899658/ 0.0/ 5.599999904632568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2F647B-A2FB-43CD-E377-A5DEB46E8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547688"/>
            <a:ext cx="9831282" cy="24447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FB4B7E-9E6D-F2B0-E17F-DE58206D2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2905847"/>
            <a:ext cx="9831282" cy="24447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4D013C-51EF-7539-A3FC-44306F1FE3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613" y="5143500"/>
            <a:ext cx="9239512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616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932AE-C009-9978-2710-5123683CF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E356E8-5CE1-2A73-010B-3AC6AF422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284" y="1446481"/>
            <a:ext cx="11306896" cy="2763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CC3EB7-4752-3544-46B0-8ABD86B5D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246" y="4257911"/>
            <a:ext cx="12397683" cy="25037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509AF2-1A5F-A8E3-C53A-207462D69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1489" y="6761678"/>
            <a:ext cx="12397683" cy="2503767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F41166AD-54DD-7939-0698-9876644C5FF8}"/>
              </a:ext>
            </a:extLst>
          </p:cNvPr>
          <p:cNvSpPr/>
          <p:nvPr/>
        </p:nvSpPr>
        <p:spPr>
          <a:xfrm rot="16200000">
            <a:off x="6515100" y="9074945"/>
            <a:ext cx="16764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F600D8B1-6804-79E7-E314-2F5B49BCF419}"/>
              </a:ext>
            </a:extLst>
          </p:cNvPr>
          <p:cNvSpPr/>
          <p:nvPr/>
        </p:nvSpPr>
        <p:spPr>
          <a:xfrm rot="16200000">
            <a:off x="5753100" y="9196390"/>
            <a:ext cx="16764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6E6CEBB6-FF3B-58C4-47D8-F47FCFF0B4AB}"/>
              </a:ext>
            </a:extLst>
          </p:cNvPr>
          <p:cNvSpPr/>
          <p:nvPr/>
        </p:nvSpPr>
        <p:spPr>
          <a:xfrm rot="9446392">
            <a:off x="9517677" y="7403962"/>
            <a:ext cx="16764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32F5ECE-5D92-635A-1D0D-3CD19FB7DA20}"/>
              </a:ext>
            </a:extLst>
          </p:cNvPr>
          <p:cNvSpPr/>
          <p:nvPr/>
        </p:nvSpPr>
        <p:spPr>
          <a:xfrm rot="16200000">
            <a:off x="11696700" y="8948184"/>
            <a:ext cx="16764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396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D0DA0-DC33-4046-2E6A-F2DD3262E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Cara </a:t>
            </a:r>
            <a:r>
              <a:rPr lang="en-US" dirty="0" err="1"/>
              <a:t>kerja</a:t>
            </a:r>
            <a:r>
              <a:rPr lang="en-US" dirty="0"/>
              <a:t> </a:t>
            </a:r>
            <a:r>
              <a:rPr lang="en-US" dirty="0" err="1"/>
              <a:t>voronoi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6B9D3-68D5-9207-AB6B-00409EAA2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Mengambil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boundary/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tepi</a:t>
            </a:r>
            <a:r>
              <a:rPr lang="en-US" dirty="0"/>
              <a:t>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sampling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boundary</a:t>
            </a:r>
          </a:p>
          <a:p>
            <a:r>
              <a:rPr lang="en-US" dirty="0" err="1"/>
              <a:t>Membuat</a:t>
            </a:r>
            <a:r>
              <a:rPr lang="en-US" dirty="0"/>
              <a:t> diagram Voronoi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boundary</a:t>
            </a:r>
          </a:p>
          <a:p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mengambil</a:t>
            </a:r>
            <a:r>
              <a:rPr lang="en-US" dirty="0"/>
              <a:t> edge/ridge Voronoi yang </a:t>
            </a:r>
            <a:r>
              <a:rPr lang="en-US" dirty="0" err="1"/>
              <a:t>berada</a:t>
            </a:r>
            <a:r>
              <a:rPr lang="en-US" dirty="0"/>
              <a:t> </a:t>
            </a:r>
            <a:r>
              <a:rPr lang="en-US" dirty="0" err="1"/>
              <a:t>didalam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, </a:t>
            </a:r>
            <a:r>
              <a:rPr lang="en-US" dirty="0" err="1"/>
              <a:t>jadi</a:t>
            </a:r>
            <a:r>
              <a:rPr lang="en-US" dirty="0"/>
              <a:t> </a:t>
            </a:r>
            <a:r>
              <a:rPr lang="en-US" dirty="0" err="1"/>
              <a:t>tahap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kandidat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skeletonya</a:t>
            </a:r>
            <a:r>
              <a:rPr lang="en-US" dirty="0"/>
              <a:t>  (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jarak</a:t>
            </a:r>
            <a:r>
              <a:rPr lang="en-US" dirty="0"/>
              <a:t> yang </a:t>
            </a:r>
            <a:r>
              <a:rPr lang="en-US" dirty="0" err="1"/>
              <a:t>sama</a:t>
            </a:r>
            <a:r>
              <a:rPr lang="en-US" dirty="0"/>
              <a:t> di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sisinya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berada</a:t>
            </a:r>
            <a:r>
              <a:rPr lang="en-US" dirty="0"/>
              <a:t> </a:t>
            </a:r>
            <a:r>
              <a:rPr lang="en-US" dirty="0" err="1"/>
              <a:t>ditengah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kandidat</a:t>
            </a:r>
            <a:r>
              <a:rPr lang="en-US" dirty="0"/>
              <a:t> </a:t>
            </a:r>
            <a:r>
              <a:rPr lang="en-US" dirty="0" err="1"/>
              <a:t>skeletonya</a:t>
            </a:r>
            <a:r>
              <a:rPr lang="en-US" dirty="0"/>
              <a:t>)</a:t>
            </a:r>
          </a:p>
          <a:p>
            <a:r>
              <a:rPr lang="en-US" dirty="0" err="1"/>
              <a:t>Prunning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distance transform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menghapus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skeleton yang DT </a:t>
            </a:r>
            <a:r>
              <a:rPr lang="en-US" dirty="0" err="1"/>
              <a:t>nya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dekat</a:t>
            </a:r>
            <a:r>
              <a:rPr lang="en-US" dirty="0"/>
              <a:t> garis </a:t>
            </a:r>
            <a:r>
              <a:rPr lang="en-US" dirty="0" err="1"/>
              <a:t>tepi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tujuan</a:t>
            </a:r>
            <a:r>
              <a:rPr lang="en-US" dirty="0"/>
              <a:t> </a:t>
            </a:r>
            <a:r>
              <a:rPr lang="en-US" dirty="0" err="1"/>
              <a:t>menghapus</a:t>
            </a:r>
            <a:r>
              <a:rPr lang="en-US" dirty="0"/>
              <a:t> noise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cabang</a:t>
            </a:r>
            <a:r>
              <a:rPr lang="en-US" dirty="0"/>
              <a:t> </a:t>
            </a:r>
            <a:r>
              <a:rPr lang="en-US" dirty="0" err="1"/>
              <a:t>kecil</a:t>
            </a:r>
            <a:endParaRPr lang="en-US" dirty="0"/>
          </a:p>
          <a:p>
            <a:r>
              <a:rPr lang="en-US" dirty="0"/>
              <a:t>thinning</a:t>
            </a:r>
          </a:p>
        </p:txBody>
      </p:sp>
    </p:spTree>
    <p:extLst>
      <p:ext uri="{BB962C8B-B14F-4D97-AF65-F5344CB8AC3E}">
        <p14:creationId xmlns:p14="http://schemas.microsoft.com/office/powerpoint/2010/main" val="1684375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D5F00-BCA4-9BF1-885F-7536429D2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6227E0-C5D9-34D7-D48E-190138267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61768"/>
            <a:ext cx="17834233" cy="11319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F784C3-919E-417F-422F-26C29978C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317" y="3893675"/>
            <a:ext cx="11541366" cy="2546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62B9EE-4E70-8546-BE60-E430DFBCF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743" y="34149"/>
            <a:ext cx="11306896" cy="27634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614D29-144A-1C43-C977-4A06E798F4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0" y="6440050"/>
            <a:ext cx="11541366" cy="25463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0BAC6C-DC5C-48B8-735A-5CB41B23D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9"/>
            <a:ext cx="5981700" cy="176212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Hybrid MAT + DT ridge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5B57FAF-E0FE-BDDB-AF58-3F55E7BAF608}"/>
              </a:ext>
            </a:extLst>
          </p:cNvPr>
          <p:cNvSpPr txBox="1">
            <a:spLocks/>
          </p:cNvSpPr>
          <p:nvPr/>
        </p:nvSpPr>
        <p:spPr>
          <a:xfrm>
            <a:off x="1228117" y="6705601"/>
            <a:ext cx="5981700" cy="1762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Hasil </a:t>
            </a:r>
            <a:r>
              <a:rPr lang="en-US" sz="2800" dirty="0" err="1"/>
              <a:t>Prunning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17621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EFEF1-5AB2-DF77-A762-EE77CFDF5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E3C29-85F2-E33E-0913-B6B6D29B7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Cara </a:t>
            </a:r>
            <a:r>
              <a:rPr lang="en-US" dirty="0" err="1"/>
              <a:t>kerjanya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5172F-E926-6BB3-BB93-82D5724BB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Medial axis </a:t>
            </a:r>
            <a:r>
              <a:rPr lang="en-US" dirty="0" err="1"/>
              <a:t>diambil</a:t>
            </a:r>
            <a:r>
              <a:rPr lang="en-US" dirty="0"/>
              <a:t> garis </a:t>
            </a:r>
            <a:r>
              <a:rPr lang="en-US" dirty="0" err="1"/>
              <a:t>tengahnya</a:t>
            </a:r>
            <a:r>
              <a:rPr lang="en-US" dirty="0"/>
              <a:t>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menghitung</a:t>
            </a:r>
            <a:r>
              <a:rPr lang="en-US" dirty="0"/>
              <a:t> distance transform </a:t>
            </a:r>
            <a:r>
              <a:rPr lang="en-US" dirty="0" err="1"/>
              <a:t>ke</a:t>
            </a:r>
            <a:r>
              <a:rPr lang="en-US" dirty="0"/>
              <a:t> garis </a:t>
            </a:r>
            <a:r>
              <a:rPr lang="en-US" dirty="0" err="1"/>
              <a:t>tepinya</a:t>
            </a:r>
            <a:endParaRPr lang="en-US" dirty="0"/>
          </a:p>
          <a:p>
            <a:r>
              <a:rPr lang="en-US" dirty="0"/>
              <a:t>distance transform </a:t>
            </a:r>
            <a:r>
              <a:rPr lang="en-US" dirty="0" err="1"/>
              <a:t>diambil</a:t>
            </a:r>
            <a:r>
              <a:rPr lang="en-US" dirty="0"/>
              <a:t> local maxima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terjauh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boundary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tepi</a:t>
            </a:r>
            <a:r>
              <a:rPr lang="en-US" dirty="0"/>
              <a:t> </a:t>
            </a:r>
            <a:r>
              <a:rPr lang="en-US" dirty="0" err="1"/>
              <a:t>hurufnya</a:t>
            </a:r>
            <a:endParaRPr lang="en-US" dirty="0"/>
          </a:p>
          <a:p>
            <a:r>
              <a:rPr lang="en-US" dirty="0"/>
              <a:t>Dari garis Tengah medial axis dan distance transform </a:t>
            </a: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mengunci</a:t>
            </a:r>
            <a:r>
              <a:rPr lang="en-US" dirty="0"/>
              <a:t> </a:t>
            </a:r>
            <a:r>
              <a:rPr lang="en-US" dirty="0" err="1"/>
              <a:t>jalur</a:t>
            </a:r>
            <a:r>
              <a:rPr lang="en-US" dirty="0"/>
              <a:t> medial axis dan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digabungkan</a:t>
            </a:r>
            <a:r>
              <a:rPr lang="en-US" dirty="0"/>
              <a:t> dan </a:t>
            </a:r>
            <a:r>
              <a:rPr lang="en-US" dirty="0" err="1"/>
              <a:t>dilakukan</a:t>
            </a:r>
            <a:r>
              <a:rPr lang="en-US" dirty="0"/>
              <a:t> thinning</a:t>
            </a:r>
          </a:p>
          <a:p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menambahkan</a:t>
            </a:r>
            <a:r>
              <a:rPr lang="en-US" dirty="0"/>
              <a:t> </a:t>
            </a:r>
            <a:r>
              <a:rPr lang="en-US" dirty="0" err="1"/>
              <a:t>ditambahkan</a:t>
            </a:r>
            <a:r>
              <a:rPr lang="en-US" dirty="0"/>
              <a:t> pruning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menghilangkan</a:t>
            </a:r>
            <a:r>
              <a:rPr lang="en-US" dirty="0"/>
              <a:t> garis </a:t>
            </a:r>
            <a:r>
              <a:rPr lang="en-US" dirty="0" err="1"/>
              <a:t>kecil</a:t>
            </a:r>
            <a:r>
              <a:rPr lang="en-US" dirty="0"/>
              <a:t> yang </a:t>
            </a:r>
            <a:r>
              <a:rPr lang="en-US" dirty="0" err="1"/>
              <a:t>muncul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91165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A5062-E650-0E30-FDF3-B18683F9D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F9BB2-1375-C65E-6172-9FACBE2B5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DA6ED-D5D8-197D-3B50-5F136E9A0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408CE5-B18D-B523-C412-D202A5D79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2095500"/>
            <a:ext cx="12357149" cy="24955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A0EF93-0D3A-B110-9E01-E1B1DA907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257" y="4682813"/>
            <a:ext cx="12794648" cy="2822887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7CC4EDB8-6BA4-6FDB-539F-551E101760A0}"/>
              </a:ext>
            </a:extLst>
          </p:cNvPr>
          <p:cNvSpPr/>
          <p:nvPr/>
        </p:nvSpPr>
        <p:spPr>
          <a:xfrm rot="16200000">
            <a:off x="4352406" y="7517605"/>
            <a:ext cx="16764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632EDCF-C3CF-DC87-5173-A2E9552D12C0}"/>
              </a:ext>
            </a:extLst>
          </p:cNvPr>
          <p:cNvSpPr/>
          <p:nvPr/>
        </p:nvSpPr>
        <p:spPr>
          <a:xfrm rot="16200000">
            <a:off x="9715500" y="7356872"/>
            <a:ext cx="16764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3991F8D-66B2-F30D-472E-E0DE4A695398}"/>
              </a:ext>
            </a:extLst>
          </p:cNvPr>
          <p:cNvSpPr/>
          <p:nvPr/>
        </p:nvSpPr>
        <p:spPr>
          <a:xfrm rot="16200000">
            <a:off x="12709814" y="7755136"/>
            <a:ext cx="16764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186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F22F3-A286-FBEA-99BC-EB2C3F12C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EF03-8E94-3EC4-5332-08CACF059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953F0-DE8C-ABBE-CB72-3EC0DAFA4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02C25A-9415-6EF8-7E63-0DE0C5134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559459"/>
            <a:ext cx="11957809" cy="26382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4F8718-7AA2-27EF-3009-79EB3AC58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316" y="5197714"/>
            <a:ext cx="11714283" cy="2546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FAFE2A-1CC5-9ED6-A16F-2B93809E67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7744089"/>
            <a:ext cx="11541366" cy="2546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0C7FF9-28D9-54E2-291B-0375159120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0" y="53693"/>
            <a:ext cx="11576809" cy="250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150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C1290-C968-E11F-AF21-99DC06C03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8294-0E4F-5687-3373-99298E77A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Penambahan</a:t>
            </a:r>
            <a:r>
              <a:rPr lang="en-US" dirty="0"/>
              <a:t> circularity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B5F37F-8DA3-68DC-410F-6DCE23485E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0552" y="5620679"/>
            <a:ext cx="13386896" cy="2703543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BA5CA3-F6C4-21F7-6B64-B6F3FD863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240" y="2102060"/>
            <a:ext cx="13567829" cy="331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7001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4F62E-3581-E18A-3D64-962320B93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66C9B-5AD0-F290-D829-39FE0E2A9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9"/>
            <a:ext cx="15773400" cy="633412"/>
          </a:xfrm>
        </p:spPr>
        <p:txBody>
          <a:bodyPr>
            <a:normAutofit fontScale="90000"/>
          </a:bodyPr>
          <a:lstStyle/>
          <a:p>
            <a:r>
              <a:rPr lang="en-US" dirty="0"/>
              <a:t>Hasil </a:t>
            </a:r>
            <a:r>
              <a:rPr lang="en-US" dirty="0" err="1"/>
              <a:t>perhitungan</a:t>
            </a:r>
            <a:r>
              <a:rPr lang="en-US" dirty="0"/>
              <a:t> skeleton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tepi</a:t>
            </a:r>
            <a:r>
              <a:rPr lang="en-US" dirty="0"/>
              <a:t> </a:t>
            </a:r>
            <a:r>
              <a:rPr lang="en-US" dirty="0" err="1"/>
              <a:t>terdekat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4EA84-B166-8367-E669-4A25F2974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2709" y="3388359"/>
            <a:ext cx="15773400" cy="6527007"/>
          </a:xfrm>
        </p:spPr>
        <p:txBody>
          <a:bodyPr/>
          <a:lstStyle/>
          <a:p>
            <a:r>
              <a:rPr lang="en-US" dirty="0"/>
              <a:t>[Medial Axis] DT(</a:t>
            </a:r>
            <a:r>
              <a:rPr lang="en-US" dirty="0" err="1"/>
              <a:t>skel</a:t>
            </a:r>
            <a:r>
              <a:rPr lang="en-US" dirty="0"/>
              <a:t>-&gt;edge) mean/median/min/max: 1.778025507926941/ 2.0/ 0.0/ 5.393799781799316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[DT Ridge] DT(</a:t>
            </a:r>
            <a:r>
              <a:rPr lang="en-US" dirty="0" err="1"/>
              <a:t>skel</a:t>
            </a:r>
            <a:r>
              <a:rPr lang="en-US" dirty="0"/>
              <a:t>-&gt;edge) mean/median/min/max: 1.9339892864227295/ 2.0/ 1.0/ 5.196899890899658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8DF66F-ADFE-0297-E8ED-813B94B70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251548"/>
            <a:ext cx="11265029" cy="21368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078FD7-FB5E-E2D2-67E6-CFEEAFE9D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4914900"/>
            <a:ext cx="11265030" cy="213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3096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54E9F-3259-A1DD-D6A8-AC481FDBB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523725"/>
            <a:ext cx="15773400" cy="956432"/>
          </a:xfrm>
        </p:spPr>
        <p:txBody>
          <a:bodyPr>
            <a:normAutofit/>
          </a:bodyPr>
          <a:lstStyle/>
          <a:p>
            <a:r>
              <a:rPr lang="en-US" sz="4800" dirty="0"/>
              <a:t>Threshold adaptive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E5929-3B85-8BD1-F57B-308C5C026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[Hybrid (</a:t>
            </a:r>
            <a:r>
              <a:rPr lang="en-US" dirty="0" err="1"/>
              <a:t>MAT+DT+blob</a:t>
            </a:r>
            <a:r>
              <a:rPr lang="en-US" dirty="0"/>
              <a:t>)] DT(</a:t>
            </a:r>
            <a:r>
              <a:rPr lang="en-US" dirty="0" err="1"/>
              <a:t>skel</a:t>
            </a:r>
            <a:r>
              <a:rPr lang="en-US" dirty="0"/>
              <a:t>-&gt;edge) mean/median/min/max: 1.7726329565048218/ 2.0/ 0.0/ 5.393799781799316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238384-B55E-9AC3-08CE-33637AA4C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485" y="601627"/>
            <a:ext cx="11265029" cy="21368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5A56FF-2741-9869-B0D4-AB530DF0D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850305"/>
            <a:ext cx="17461541" cy="139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5697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17277-D351-4051-1327-2AF04DE8B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Percobaan</a:t>
            </a:r>
            <a:r>
              <a:rPr lang="en-US" dirty="0"/>
              <a:t> </a:t>
            </a:r>
            <a:r>
              <a:rPr lang="en-US" dirty="0" err="1"/>
              <a:t>menghilangkan</a:t>
            </a:r>
            <a:r>
              <a:rPr lang="en-US" dirty="0"/>
              <a:t> blob pada stroke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8CD4C-5A23-5A00-2C05-4A9907172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799006-C0F9-6174-CF79-626548917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06823"/>
            <a:ext cx="8892323" cy="1795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595FAB-4229-9A67-EF20-0F07CC4DB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48717"/>
            <a:ext cx="8892323" cy="17958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5E3836-6B56-D438-70C6-5A6F4AD2A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0287" y="2582083"/>
            <a:ext cx="9509987" cy="19205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59C58C-3EB9-4334-A3F5-C99C8B24C5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669488"/>
            <a:ext cx="8892323" cy="17958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A68217-1750-AF4E-727A-5F2F32D896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0286" y="4625785"/>
            <a:ext cx="9509987" cy="192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8695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02F8D-DD88-0FF5-1F4C-426520DD5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Penentuan</a:t>
            </a:r>
            <a:r>
              <a:rPr lang="en-US" dirty="0"/>
              <a:t> Blob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F281E-6222-5134-11A8-C43258C2B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Blob </a:t>
            </a:r>
            <a:r>
              <a:rPr lang="en-US" dirty="0" err="1"/>
              <a:t>ditentukan</a:t>
            </a:r>
            <a:r>
              <a:rPr lang="en-US" dirty="0"/>
              <a:t> oleh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tahapan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, area, circular, axis ratio (</a:t>
            </a:r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sumbu</a:t>
            </a:r>
            <a:r>
              <a:rPr lang="en-US" dirty="0"/>
              <a:t> x dan y)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kecenderungan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,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gumpalan</a:t>
            </a:r>
            <a:r>
              <a:rPr lang="en-US" dirty="0"/>
              <a:t> dan </a:t>
            </a:r>
            <a:r>
              <a:rPr lang="en-US" dirty="0" err="1"/>
              <a:t>jarak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baseline,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syarat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terpenuhi</a:t>
            </a:r>
            <a:r>
              <a:rPr lang="en-US" dirty="0"/>
              <a:t> </a:t>
            </a:r>
            <a:r>
              <a:rPr lang="en-US" dirty="0" err="1"/>
              <a:t>makan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circular blob.</a:t>
            </a:r>
          </a:p>
          <a:p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divalidasi</a:t>
            </a:r>
            <a:r>
              <a:rPr lang="en-US" dirty="0"/>
              <a:t> oleh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puncak</a:t>
            </a:r>
            <a:r>
              <a:rPr lang="en-US" dirty="0"/>
              <a:t> distance transform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tahapan</a:t>
            </a:r>
            <a:r>
              <a:rPr lang="en-US" dirty="0"/>
              <a:t> </a:t>
            </a:r>
            <a:r>
              <a:rPr lang="en-US" dirty="0" err="1"/>
              <a:t>penentuan</a:t>
            </a:r>
            <a:r>
              <a:rPr lang="en-US" dirty="0"/>
              <a:t> batas minimum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puncak</a:t>
            </a:r>
            <a:r>
              <a:rPr lang="en-US" dirty="0"/>
              <a:t> DT, </a:t>
            </a:r>
            <a:r>
              <a:rPr lang="en-US" dirty="0" err="1"/>
              <a:t>pengatur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core blob (inti </a:t>
            </a:r>
            <a:r>
              <a:rPr lang="en-US" dirty="0" err="1"/>
              <a:t>gumpalan</a:t>
            </a:r>
            <a:r>
              <a:rPr lang="en-US" dirty="0"/>
              <a:t>/blob), </a:t>
            </a:r>
            <a:r>
              <a:rPr lang="en-US" dirty="0" err="1"/>
              <a:t>ambang</a:t>
            </a:r>
            <a:r>
              <a:rPr lang="en-US" dirty="0"/>
              <a:t> minimum circularity, </a:t>
            </a:r>
            <a:r>
              <a:rPr lang="en-US" dirty="0" err="1"/>
              <a:t>ambang</a:t>
            </a:r>
            <a:r>
              <a:rPr lang="en-US" dirty="0"/>
              <a:t> minimum axis ratio, dan </a:t>
            </a:r>
            <a:r>
              <a:rPr lang="en-US" dirty="0" err="1"/>
              <a:t>luas</a:t>
            </a:r>
            <a:r>
              <a:rPr lang="en-US" dirty="0"/>
              <a:t> minimum area core(</a:t>
            </a:r>
            <a:r>
              <a:rPr lang="en-US" dirty="0" err="1"/>
              <a:t>gumpalan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058361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7D718-88D3-1CFA-FCF6-0BBCF9EAE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Hasil </a:t>
            </a:r>
            <a:r>
              <a:rPr lang="en-US" dirty="0" err="1"/>
              <a:t>perbaikan</a:t>
            </a:r>
            <a:r>
              <a:rPr lang="en-US" dirty="0"/>
              <a:t> circularity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673028-2B54-04C3-B159-301B4B81EF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800" y="2552700"/>
            <a:ext cx="14518835" cy="2932143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36325FF-91D0-F873-E39B-3096EBC85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5676900"/>
            <a:ext cx="13567829" cy="331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1042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0F48D-B8A8-58A4-31DC-54AA6E5BA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9"/>
            <a:ext cx="15773400" cy="1090612"/>
          </a:xfrm>
        </p:spPr>
        <p:txBody>
          <a:bodyPr/>
          <a:lstStyle/>
          <a:p>
            <a:r>
              <a:rPr lang="en-US" dirty="0" err="1"/>
              <a:t>Perubahan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8BBDB-9FDB-CEBF-58C4-69567C5F6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Penambahan</a:t>
            </a:r>
            <a:r>
              <a:rPr lang="en-US" dirty="0"/>
              <a:t> Ratio blob </a:t>
            </a:r>
            <a:r>
              <a:rPr lang="en-US" dirty="0" err="1"/>
              <a:t>supaya</a:t>
            </a:r>
            <a:r>
              <a:rPr lang="en-US" dirty="0"/>
              <a:t> blob </a:t>
            </a:r>
            <a:r>
              <a:rPr lang="en-US" dirty="0" err="1"/>
              <a:t>bulat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dibedakan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tikungan</a:t>
            </a:r>
            <a:r>
              <a:rPr lang="en-US" dirty="0"/>
              <a:t>/junction yang </a:t>
            </a:r>
            <a:r>
              <a:rPr lang="en-US" dirty="0" err="1"/>
              <a:t>terlihat</a:t>
            </a:r>
            <a:r>
              <a:rPr lang="en-US" dirty="0"/>
              <a:t> “</a:t>
            </a:r>
            <a:r>
              <a:rPr lang="en-US" dirty="0" err="1"/>
              <a:t>mirip</a:t>
            </a:r>
            <a:r>
              <a:rPr lang="en-US" dirty="0"/>
              <a:t> </a:t>
            </a:r>
            <a:r>
              <a:rPr lang="en-US" dirty="0" err="1"/>
              <a:t>bulat</a:t>
            </a:r>
            <a:r>
              <a:rPr lang="en-US" dirty="0"/>
              <a:t>”.</a:t>
            </a:r>
          </a:p>
          <a:p>
            <a:r>
              <a:rPr lang="en-US" dirty="0" err="1"/>
              <a:t>Penambahan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core yang </a:t>
            </a:r>
            <a:r>
              <a:rPr lang="en-US" dirty="0" err="1"/>
              <a:t>mengisi</a:t>
            </a:r>
            <a:r>
              <a:rPr lang="en-US" dirty="0"/>
              <a:t> blob </a:t>
            </a:r>
            <a:r>
              <a:rPr lang="en-US" dirty="0" err="1"/>
              <a:t>dihitung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area </a:t>
            </a:r>
            <a:r>
              <a:rPr lang="en-US" dirty="0" err="1"/>
              <a:t>kontur</a:t>
            </a:r>
            <a:r>
              <a:rPr lang="en-US" dirty="0"/>
              <a:t>, </a:t>
            </a:r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luas</a:t>
            </a:r>
            <a:r>
              <a:rPr lang="en-US" dirty="0"/>
              <a:t> blob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kuas</a:t>
            </a:r>
            <a:r>
              <a:rPr lang="en-US" dirty="0"/>
              <a:t> </a:t>
            </a:r>
            <a:r>
              <a:rPr lang="en-US" dirty="0" err="1"/>
              <a:t>lingkaran</a:t>
            </a:r>
            <a:r>
              <a:rPr lang="en-US" dirty="0"/>
              <a:t> </a:t>
            </a:r>
            <a:r>
              <a:rPr lang="en-US" dirty="0" err="1"/>
              <a:t>berbasis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tertinggi</a:t>
            </a:r>
            <a:r>
              <a:rPr lang="en-US" dirty="0"/>
              <a:t> DT, dan </a:t>
            </a:r>
            <a:r>
              <a:rPr lang="en-US" dirty="0" err="1"/>
              <a:t>perbandingan</a:t>
            </a:r>
            <a:r>
              <a:rPr lang="en-US" dirty="0"/>
              <a:t> Panjang maximum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gumpalan</a:t>
            </a:r>
            <a:r>
              <a:rPr lang="en-US" dirty="0"/>
              <a:t> </a:t>
            </a:r>
            <a:r>
              <a:rPr lang="en-US" dirty="0" err="1"/>
              <a:t>dibandingkan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tertinggi</a:t>
            </a:r>
            <a:r>
              <a:rPr lang="en-US" dirty="0"/>
              <a:t> DT</a:t>
            </a:r>
          </a:p>
          <a:p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dipastikan</a:t>
            </a:r>
            <a:r>
              <a:rPr lang="en-US" dirty="0"/>
              <a:t> blob, skeleton </a:t>
            </a:r>
            <a:r>
              <a:rPr lang="en-US" dirty="0" err="1"/>
              <a:t>lingkaran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dipaksa</a:t>
            </a:r>
            <a:r>
              <a:rPr lang="en-US" dirty="0"/>
              <a:t> </a:t>
            </a:r>
            <a:r>
              <a:rPr lang="en-US" dirty="0" err="1"/>
              <a:t>terbentuk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8956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CCDD-7B1A-9AFC-1697-1AF058C7B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Percobaan</a:t>
            </a:r>
            <a:r>
              <a:rPr lang="en-US" dirty="0"/>
              <a:t> </a:t>
            </a:r>
            <a:r>
              <a:rPr lang="en-US" dirty="0" err="1"/>
              <a:t>skript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FB30F-01C1-DB14-4B2A-983667D4E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137831-87CB-1FFF-BF4B-16C62D500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41" y="2536033"/>
            <a:ext cx="17888925" cy="446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6131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B4919-E82C-36A6-D7CE-0B4002419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30C3D-01FC-3EE0-4DF4-012D79244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Penambahan</a:t>
            </a:r>
            <a:r>
              <a:rPr lang="en-US" dirty="0"/>
              <a:t> sig curve </a:t>
            </a:r>
            <a:r>
              <a:rPr lang="en-US" dirty="0" err="1"/>
              <a:t>berdasarkan</a:t>
            </a:r>
            <a:r>
              <a:rPr lang="en-US" dirty="0"/>
              <a:t> skeleton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70DBFD-BE3D-6889-6081-C9CC15DE8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5200" y="0"/>
            <a:ext cx="3884791" cy="10287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2B07F8-8944-218C-7BCE-12009CE06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2114" y="3390900"/>
            <a:ext cx="3509554" cy="31998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AF5F1B-E42B-8F6A-030A-E375BA3F2E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5248" y="3372492"/>
            <a:ext cx="3817212" cy="37291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7157BC8-CD9A-2FB6-D989-F9ADB09B41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4456" y="6896643"/>
            <a:ext cx="3864333" cy="30028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3066F2E-696F-1A2B-C856-A6BD0F0E51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0917" y="7110737"/>
            <a:ext cx="3509554" cy="266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0231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EA6CB-3151-2205-254F-21C2D3991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F9F5B3-AFE8-09C1-D7B9-C71FC6D1EE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90500"/>
            <a:ext cx="14782800" cy="9899049"/>
          </a:xfrm>
        </p:spPr>
      </p:pic>
    </p:spTree>
    <p:extLst>
      <p:ext uri="{BB962C8B-B14F-4D97-AF65-F5344CB8AC3E}">
        <p14:creationId xmlns:p14="http://schemas.microsoft.com/office/powerpoint/2010/main" val="30600860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481EA-BA81-D09E-E392-EEAF6172B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EF233-AC78-1446-F210-6FB1F1B81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4507059"/>
            <a:ext cx="15773400" cy="6527007"/>
          </a:xfrm>
        </p:spPr>
        <p:txBody>
          <a:bodyPr/>
          <a:lstStyle/>
          <a:p>
            <a:r>
              <a:rPr lang="en-US" dirty="0" err="1"/>
              <a:t>Menggunakan</a:t>
            </a:r>
            <a:r>
              <a:rPr lang="en-US" dirty="0"/>
              <a:t> skeleton </a:t>
            </a:r>
            <a:r>
              <a:rPr lang="en-US" dirty="0" err="1"/>
              <a:t>zhang</a:t>
            </a:r>
            <a:r>
              <a:rPr lang="en-US" dirty="0"/>
              <a:t>, </a:t>
            </a:r>
            <a:r>
              <a:rPr lang="en-US" dirty="0" err="1"/>
              <a:t>dengan</a:t>
            </a:r>
            <a:r>
              <a:rPr lang="en-US" dirty="0"/>
              <a:t> circularity di </a:t>
            </a:r>
            <a:r>
              <a:rPr lang="en-US" dirty="0" err="1"/>
              <a:t>erosi</a:t>
            </a:r>
            <a:r>
              <a:rPr lang="en-US" dirty="0"/>
              <a:t> 1 pixel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FEF013-C29D-A3BB-37F1-50B2658FA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838" y="856060"/>
            <a:ext cx="14460324" cy="335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2028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9329A-D726-B1D8-E597-78DADE1A7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</a:t>
            </a:r>
            <a:r>
              <a:rPr lang="en-US" dirty="0" err="1"/>
              <a:t>hasil</a:t>
            </a:r>
            <a:r>
              <a:rPr lang="en-US" dirty="0"/>
              <a:t> pixel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C6772D-F0A2-567C-3435-56A2E987B5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5745620"/>
              </p:ext>
            </p:extLst>
          </p:nvPr>
        </p:nvGraphicFramePr>
        <p:xfrm>
          <a:off x="838200" y="2511788"/>
          <a:ext cx="4495800" cy="43235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88069363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03004215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83359054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584294520"/>
                    </a:ext>
                  </a:extLst>
                </a:gridCol>
              </a:tblGrid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Pixel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(59,132)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=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6.324555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8321553"/>
                  </a:ext>
                </a:extLst>
              </a:tr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Pixel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(58,131)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=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6.324555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87641837"/>
                  </a:ext>
                </a:extLst>
              </a:tr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Pixel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(59,131)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=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6.082763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583147"/>
                  </a:ext>
                </a:extLst>
              </a:tr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Pixel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(59,130)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=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6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27899196"/>
                  </a:ext>
                </a:extLst>
              </a:tr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Pixel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(60,134)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=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5.830952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08762668"/>
                  </a:ext>
                </a:extLst>
              </a:tr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Pixel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(60,133)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=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5.830952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44431479"/>
                  </a:ext>
                </a:extLst>
              </a:tr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Pixel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(61,134)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=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5.656854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87796130"/>
                  </a:ext>
                </a:extLst>
              </a:tr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Pixel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(59,133)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=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5.656854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34194145"/>
                  </a:ext>
                </a:extLst>
              </a:tr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Pixel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(59,129)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=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5.656854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3903791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9459B8C-8916-6B89-7046-958880CAD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100" y="2234979"/>
            <a:ext cx="11518927" cy="4825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5134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3F8F5-9BDD-F2AF-6C33-9200081D1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08C3E-949B-BEEE-E431-45AA0F465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418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2B5B7-DD61-3DB1-FE79-6BD3F7A35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094C7-0D9F-0B2C-4D2C-90AF77064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7191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6023D-1EAE-DF09-4B3C-DFB94BB54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150F7-25E4-DBB8-D824-8EFF452CB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0994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141F-6E67-3F06-CFAD-145D429BA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CF93A-CE03-746A-DF25-3A6471537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1456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FE105-5929-DE84-125A-4E50B5F74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FBF9C-F1B8-0FE6-292D-F11B16280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8480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FB5A-7877-FEAB-8FD7-90F256B12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48163-9224-9DA0-CA63-99FB4CD5F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7814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C4E7B-0892-FEF2-E6F8-D18D6EF83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458C9-F052-1FA6-5179-9516C8175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9123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6AD3B-3B23-3424-8C1D-4457D9144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5068F-B23A-34EE-E78B-0E51ED6F3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3693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EED32-209F-6773-DB37-101A8DF94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B1F6E-B84A-C18F-173B-E88996798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1622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93BEF-F6D6-8D2B-8677-E7D0E2B43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C782D-AF89-7C4E-EE26-C8E187499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1332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F963-9444-60BB-4093-D413B78B1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C9505-E829-749A-3CD7-7734FD9AA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8185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34206-2959-425E-E945-D555EFA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B8464-955E-178B-A3A7-CAA6F24CF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6019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98275-D056-ECDA-0A12-EE924BF2C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342900"/>
            <a:ext cx="15773400" cy="6527007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Coba 3 </a:t>
            </a:r>
            <a:r>
              <a:rPr lang="en-US" dirty="0" err="1"/>
              <a:t>algoritma</a:t>
            </a:r>
            <a:r>
              <a:rPr lang="en-US" dirty="0"/>
              <a:t> skeleton</a:t>
            </a:r>
          </a:p>
          <a:p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adanya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diperbaiki</a:t>
            </a:r>
            <a:r>
              <a:rPr lang="en-US" dirty="0"/>
              <a:t> </a:t>
            </a:r>
            <a:r>
              <a:rPr lang="en-US" dirty="0" err="1"/>
              <a:t>dulu</a:t>
            </a:r>
            <a:r>
              <a:rPr lang="en-US" dirty="0"/>
              <a:t>, </a:t>
            </a:r>
            <a:r>
              <a:rPr lang="en-US" dirty="0" err="1"/>
              <a:t>menggunakan</a:t>
            </a:r>
            <a:r>
              <a:rPr lang="en-US" dirty="0"/>
              <a:t> enhancement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clahe</a:t>
            </a:r>
            <a:r>
              <a:rPr lang="en-US" dirty="0"/>
              <a:t>.</a:t>
            </a:r>
          </a:p>
          <a:p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mencari</a:t>
            </a:r>
            <a:r>
              <a:rPr lang="en-US" dirty="0"/>
              <a:t> kayak library </a:t>
            </a:r>
            <a:r>
              <a:rPr lang="en-US" dirty="0" err="1"/>
              <a:t>skimage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pemanggilan</a:t>
            </a:r>
            <a:r>
              <a:rPr lang="en-US" dirty="0"/>
              <a:t> skeleton “skeletonize” di </a:t>
            </a:r>
            <a:r>
              <a:rPr lang="en-US" dirty="0" err="1"/>
              <a:t>cari</a:t>
            </a:r>
            <a:r>
              <a:rPr lang="en-US" dirty="0"/>
              <a:t> library di google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skimage</a:t>
            </a:r>
            <a:r>
              <a:rPr lang="en-US" dirty="0"/>
              <a:t>, </a:t>
            </a:r>
            <a:r>
              <a:rPr lang="en-US" dirty="0" err="1"/>
              <a:t>zhang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lee (</a:t>
            </a:r>
            <a:r>
              <a:rPr lang="en-US" dirty="0">
                <a:hlinkClick r:id="rId3"/>
              </a:rPr>
              <a:t>https://scikit-image.org/docs/stable/api/skimage.morphology.html#skimage.morphology.skeletonize</a:t>
            </a:r>
            <a:r>
              <a:rPr lang="en-US" dirty="0"/>
              <a:t> ) dan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berlaku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dipelajari</a:t>
            </a:r>
            <a:r>
              <a:rPr lang="en-US" dirty="0"/>
              <a:t> (</a:t>
            </a:r>
            <a:r>
              <a:rPr lang="en-US" dirty="0" err="1"/>
              <a:t>lihat</a:t>
            </a:r>
            <a:r>
              <a:rPr lang="en-US" dirty="0"/>
              <a:t> </a:t>
            </a:r>
            <a:r>
              <a:rPr lang="en-US" dirty="0" err="1"/>
              <a:t>dokumentasi</a:t>
            </a:r>
            <a:r>
              <a:rPr lang="en-US" dirty="0"/>
              <a:t> pada </a:t>
            </a:r>
            <a:r>
              <a:rPr lang="en-US" dirty="0" err="1"/>
              <a:t>screenshoot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contoh</a:t>
            </a:r>
            <a:r>
              <a:rPr lang="en-US" dirty="0"/>
              <a:t> Ketika </a:t>
            </a:r>
            <a:r>
              <a:rPr lang="en-US" dirty="0" err="1"/>
              <a:t>mencari</a:t>
            </a:r>
            <a:r>
              <a:rPr lang="en-US" dirty="0"/>
              <a:t> library dan </a:t>
            </a:r>
            <a:r>
              <a:rPr lang="en-US" dirty="0" err="1"/>
              <a:t>pemanggilan</a:t>
            </a:r>
            <a:r>
              <a:rPr lang="en-US" dirty="0"/>
              <a:t> </a:t>
            </a:r>
            <a:r>
              <a:rPr lang="en-US" dirty="0" err="1"/>
              <a:t>websitenya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).</a:t>
            </a:r>
          </a:p>
          <a:p>
            <a:r>
              <a:rPr lang="en-US" dirty="0"/>
              <a:t>Ketika </a:t>
            </a:r>
            <a:r>
              <a:rPr lang="en-US" dirty="0" err="1"/>
              <a:t>mengerjakan</a:t>
            </a:r>
            <a:r>
              <a:rPr lang="en-US" dirty="0"/>
              <a:t> juga </a:t>
            </a:r>
            <a:r>
              <a:rPr lang="en-US" dirty="0" err="1"/>
              <a:t>pararel</a:t>
            </a:r>
            <a:r>
              <a:rPr lang="en-US" dirty="0"/>
              <a:t> Ketika skeleton ga </a:t>
            </a:r>
            <a:r>
              <a:rPr lang="en-US" dirty="0" err="1"/>
              <a:t>nemu</a:t>
            </a:r>
            <a:r>
              <a:rPr lang="en-US" dirty="0"/>
              <a:t> </a:t>
            </a:r>
            <a:r>
              <a:rPr lang="en-US" dirty="0" err="1"/>
              <a:t>jalan</a:t>
            </a:r>
            <a:r>
              <a:rPr lang="en-US" dirty="0"/>
              <a:t> </a:t>
            </a:r>
            <a:r>
              <a:rPr lang="en-US" dirty="0" err="1"/>
              <a:t>keluar</a:t>
            </a:r>
            <a:r>
              <a:rPr lang="en-US" dirty="0"/>
              <a:t> </a:t>
            </a:r>
            <a:r>
              <a:rPr lang="en-US" dirty="0" err="1"/>
              <a:t>ngerjakan</a:t>
            </a:r>
            <a:r>
              <a:rPr lang="en-US" dirty="0"/>
              <a:t> junction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persimpangan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for n in range(</a:t>
            </a:r>
            <a:r>
              <a:rPr lang="en-US" dirty="0" err="1"/>
              <a:t>len</a:t>
            </a:r>
            <a:r>
              <a:rPr lang="en-US" dirty="0"/>
              <a:t>(components)):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k_sk</a:t>
            </a:r>
            <a:r>
              <a:rPr lang="en-US" dirty="0"/>
              <a:t> = </a:t>
            </a:r>
            <a:r>
              <a:rPr lang="en-US" dirty="0" err="1"/>
              <a:t>cv.getStructuringElement</a:t>
            </a:r>
            <a:r>
              <a:rPr lang="en-US" dirty="0"/>
              <a:t>(</a:t>
            </a:r>
            <a:r>
              <a:rPr lang="en-US" dirty="0" err="1"/>
              <a:t>cv.MORPH_ELLIPSE</a:t>
            </a:r>
            <a:r>
              <a:rPr lang="en-US" dirty="0"/>
              <a:t>, (3, 3))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binary_mat</a:t>
            </a:r>
            <a:r>
              <a:rPr lang="en-US" dirty="0"/>
              <a:t> = ((components[n].mat == RASMVAL).</a:t>
            </a:r>
            <a:r>
              <a:rPr lang="en-US" dirty="0" err="1"/>
              <a:t>astype</a:t>
            </a:r>
            <a:r>
              <a:rPr lang="en-US" dirty="0"/>
              <a:t>(np.uint8) * 255)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holes = </a:t>
            </a:r>
            <a:r>
              <a:rPr lang="en-US" dirty="0" err="1"/>
              <a:t>get_holes_mask</a:t>
            </a:r>
            <a:r>
              <a:rPr lang="en-US" dirty="0"/>
              <a:t>(</a:t>
            </a:r>
            <a:r>
              <a:rPr lang="en-US" dirty="0" err="1"/>
              <a:t>binary_mat</a:t>
            </a:r>
            <a:r>
              <a:rPr lang="en-US" dirty="0"/>
              <a:t>)  # </a:t>
            </a:r>
            <a:r>
              <a:rPr lang="en-US" dirty="0" err="1"/>
              <a:t>simpan</a:t>
            </a:r>
            <a:r>
              <a:rPr lang="en-US" dirty="0"/>
              <a:t> hole per </a:t>
            </a:r>
            <a:r>
              <a:rPr lang="en-US" dirty="0" err="1"/>
              <a:t>komponen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#binary_mat = </a:t>
            </a:r>
            <a:r>
              <a:rPr lang="en-US" dirty="0" err="1"/>
              <a:t>cv.morphologyEx</a:t>
            </a:r>
            <a:r>
              <a:rPr lang="en-US" dirty="0"/>
              <a:t>(</a:t>
            </a:r>
            <a:r>
              <a:rPr lang="en-US" dirty="0" err="1"/>
              <a:t>binary_mat</a:t>
            </a:r>
            <a:r>
              <a:rPr lang="en-US" dirty="0"/>
              <a:t>, </a:t>
            </a:r>
            <a:r>
              <a:rPr lang="en-US" dirty="0" err="1"/>
              <a:t>cv.MORPH_CLOSE</a:t>
            </a:r>
            <a:r>
              <a:rPr lang="en-US" dirty="0"/>
              <a:t>, </a:t>
            </a:r>
            <a:r>
              <a:rPr lang="en-US" dirty="0" err="1"/>
              <a:t>k_sk</a:t>
            </a:r>
            <a:r>
              <a:rPr lang="en-US" dirty="0"/>
              <a:t>, iterations=1)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binary_mat</a:t>
            </a:r>
            <a:r>
              <a:rPr lang="en-US" dirty="0"/>
              <a:t>[holes == 255] = 0        # </a:t>
            </a:r>
            <a:r>
              <a:rPr lang="en-US" dirty="0" err="1"/>
              <a:t>balikin</a:t>
            </a:r>
            <a:r>
              <a:rPr lang="en-US" dirty="0"/>
              <a:t> hole </a:t>
            </a:r>
            <a:r>
              <a:rPr lang="en-US" dirty="0" err="1"/>
              <a:t>lagi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skeleton = skeletonize(</a:t>
            </a:r>
            <a:r>
              <a:rPr lang="en-US" dirty="0" err="1"/>
              <a:t>binary_mat</a:t>
            </a:r>
            <a:r>
              <a:rPr lang="en-US" dirty="0"/>
              <a:t> &gt; 0).</a:t>
            </a:r>
            <a:r>
              <a:rPr lang="en-US" dirty="0" err="1"/>
              <a:t>astype</a:t>
            </a:r>
            <a:r>
              <a:rPr lang="en-US" dirty="0"/>
              <a:t>(np.uint8)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skeleton_components.append</a:t>
            </a:r>
            <a:r>
              <a:rPr lang="en-US" dirty="0"/>
              <a:t>(skeleton)</a:t>
            </a:r>
          </a:p>
          <a:p>
            <a:pPr marL="0" indent="0">
              <a:buNone/>
            </a:pPr>
            <a:r>
              <a:rPr lang="en-US" dirty="0"/>
              <a:t>UNTUK SKRIPT INI YANG DIUBAH UBAH TERKAIT SKELETONYA. DARI PAK LUKMAN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14F6F4-B762-E72B-CE13-CEADB6FF0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2781300"/>
            <a:ext cx="10827267" cy="565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170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4435</TotalTime>
  <Words>1208</Words>
  <Application>Microsoft Office PowerPoint</Application>
  <PresentationFormat>Custom</PresentationFormat>
  <Paragraphs>141</Paragraphs>
  <Slides>47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Montserrat Bold</vt:lpstr>
      <vt:lpstr>Calibri Light</vt:lpstr>
      <vt:lpstr>Montnapha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Masukan</vt:lpstr>
      <vt:lpstr>PowerPoint Presentation</vt:lpstr>
      <vt:lpstr>PowerPoint Presentation</vt:lpstr>
      <vt:lpstr>Perubahan </vt:lpstr>
      <vt:lpstr>skeleton medialaxis</vt:lpstr>
      <vt:lpstr>PowerPoint Presentation</vt:lpstr>
      <vt:lpstr>Pemotongan persimpangan</vt:lpstr>
      <vt:lpstr>Pemotongan junction</vt:lpstr>
      <vt:lpstr>junction</vt:lpstr>
      <vt:lpstr>rules</vt:lpstr>
      <vt:lpstr>PowerPoint Presentation</vt:lpstr>
      <vt:lpstr>PowerPoint Presentation</vt:lpstr>
      <vt:lpstr>Cara kerja voronoi</vt:lpstr>
      <vt:lpstr>Hybrid MAT + DT ridge</vt:lpstr>
      <vt:lpstr>Cara kerjanya</vt:lpstr>
      <vt:lpstr>PowerPoint Presentation</vt:lpstr>
      <vt:lpstr>PowerPoint Presentation</vt:lpstr>
      <vt:lpstr>Penambahan circularity</vt:lpstr>
      <vt:lpstr>Hasil perhitungan skeleton ke tepi terdekat</vt:lpstr>
      <vt:lpstr>Threshold adaptive</vt:lpstr>
      <vt:lpstr>Percobaan menghilangkan blob pada stroke</vt:lpstr>
      <vt:lpstr>Penentuan Blob</vt:lpstr>
      <vt:lpstr>Hasil perbaikan circularity</vt:lpstr>
      <vt:lpstr>Perubahan apa saja ?</vt:lpstr>
      <vt:lpstr>Percobaan skript</vt:lpstr>
      <vt:lpstr>Sig curve</vt:lpstr>
      <vt:lpstr>PowerPoint Presentation</vt:lpstr>
      <vt:lpstr>PowerPoint Presentation</vt:lpstr>
      <vt:lpstr>Sample hasil pixel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adm</cp:lastModifiedBy>
  <cp:revision>63</cp:revision>
  <dcterms:created xsi:type="dcterms:W3CDTF">2006-08-16T00:00:00Z</dcterms:created>
  <dcterms:modified xsi:type="dcterms:W3CDTF">2026-03-10T14:03:26Z</dcterms:modified>
  <dc:identifier>DAG9OBkQrg4</dc:identifier>
</cp:coreProperties>
</file>